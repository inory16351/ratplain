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charts/chart1.xml" ContentType="application/vnd.openxmlformats-officedocument.drawingml.chart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표지" id="{d17b0631-8073-9c07-e567-23f91ab57fc5}">
          <p14:sldIdLst>
            <p14:sldId id="256"/>
          </p14:sldIdLst>
        </p14:section>
        <p14:section name="개요" id="{cf74892f-d200-1a7d-3dce-2c4f930f1ecc}">
          <p14:sldIdLst>
            <p14:sldId id="257"/>
            <p14:sldId id="258"/>
            <p14:sldId id="259"/>
            <p14:sldId id="260"/>
          </p14:sldIdLst>
        </p14:section>
        <p14:section name="인게임" id="{e51ef17b-1c6d-1e87-774f-36d67a659a19}">
          <p14:sldIdLst>
            <p14:sldId id="261"/>
            <p14:sldId id="262"/>
            <p14:sldId id="263"/>
            <p14:sldId id="264"/>
            <p14:sldId id="265"/>
            <p14:sldId id="266"/>
          </p14:sldIdLst>
        </p14:section>
        <p14:section name="아웃게임" id="{65c00b61-1c3f-50e0-6461-6a5d87f67946}">
          <p14:sldIdLst>
            <p14:sldId id="267"/>
            <p14:sldId id="268"/>
            <p14:sldId id="269"/>
          </p14:sldIdLst>
        </p14:section>
        <p14:section name="비쥬얼 / 사업" id="{1575acbd-4749-203c-a032-6f43b996a75d}">
          <p14:sldIdLst>
            <p14:sldId id="270"/>
            <p14:sldId id="271"/>
            <p14:sldId id="272"/>
            <p14:sldId id="273"/>
          </p14:sldIdLst>
        </p14:section>
        <p14:section name="끝" id="{c681aa93-e720-8453-c1fe-1f80ba25eb4d}">
          <p14:sldIdLst>
            <p14:sldId id="274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F3147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1F3147"/>
                </a:solidFill>
                <a:latin typeface="+mn-lt"/>
              </a:rPr>
              <a:t>쓰는 코인별 등급 확률</a:t>
            </a:r>
          </a:p>
        </c:rich>
      </c:tx>
      <c:layout/>
      <c:overlay val="0"/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일반</c:v>
                </c:pt>
              </c:strCache>
            </c:strRef>
          </c:tx>
          <c:spPr>
            <a:solidFill>
              <a:srgbClr val="C9D2DC"/>
            </a:solidFill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2303F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30</c:v>
                  </c:pt>
                  <c:pt idx="1">
                    <c:v>100</c:v>
                  </c:pt>
                  <c:pt idx="2">
                    <c:v>250</c:v>
                  </c:pt>
                  <c:pt idx="3">
                    <c:v>600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70</c:v>
                </c:pt>
                <c:pt idx="1">
                  <c:v>45</c:v>
                </c:pt>
                <c:pt idx="2">
                  <c:v>25</c:v>
                </c:pt>
                <c:pt idx="3">
                  <c:v>10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고급</c:v>
                </c:pt>
              </c:strCache>
            </c:strRef>
          </c:tx>
          <c:spPr>
            <a:solidFill>
              <a:srgbClr val="7FD88A"/>
            </a:solidFill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2303F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30</c:v>
                  </c:pt>
                  <c:pt idx="1">
                    <c:v>100</c:v>
                  </c:pt>
                  <c:pt idx="2">
                    <c:v>250</c:v>
                  </c:pt>
                  <c:pt idx="3">
                    <c:v>600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25</c:v>
                </c:pt>
                <c:pt idx="1">
                  <c:v>38</c:v>
                </c:pt>
                <c:pt idx="2">
                  <c:v>40</c:v>
                </c:pt>
                <c:pt idx="3">
                  <c:v>35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희귀</c:v>
                </c:pt>
              </c:strCache>
            </c:strRef>
          </c:tx>
          <c:spPr>
            <a:solidFill>
              <a:srgbClr val="6FB8FF"/>
            </a:solidFill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2303F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30</c:v>
                  </c:pt>
                  <c:pt idx="1">
                    <c:v>100</c:v>
                  </c:pt>
                  <c:pt idx="2">
                    <c:v>250</c:v>
                  </c:pt>
                  <c:pt idx="3">
                    <c:v>600</c:v>
                  </c:pt>
                </c:lvl>
              </c:multiLvlStrCache>
            </c:multiLvl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4.5</c:v>
                </c:pt>
                <c:pt idx="1">
                  <c:v>14</c:v>
                </c:pt>
                <c:pt idx="2">
                  <c:v>27</c:v>
                </c:pt>
                <c:pt idx="3">
                  <c:v>38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전설</c:v>
                </c:pt>
              </c:strCache>
            </c:strRef>
          </c:tx>
          <c:spPr>
            <a:solidFill>
              <a:srgbClr val="FFB84D"/>
            </a:solidFill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2303F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30</c:v>
                  </c:pt>
                  <c:pt idx="1">
                    <c:v>100</c:v>
                  </c:pt>
                  <c:pt idx="2">
                    <c:v>250</c:v>
                  </c:pt>
                  <c:pt idx="3">
                    <c:v>600</c:v>
                  </c:pt>
                </c:lvl>
              </c:multiLvlStrCache>
            </c:multiLvlStrRef>
          </c:cat>
          <c:val>
            <c:numRef>
              <c:f>Sheet1!$E$2:$E$5</c:f>
              <c:numCache>
                <c:formatCode>General</c:formatCode>
                <c:ptCount val="4"/>
                <c:pt idx="0">
                  <c:v>0.5</c:v>
                </c:pt>
                <c:pt idx="1">
                  <c:v>3</c:v>
                </c:pt>
                <c:pt idx="2">
                  <c:v>8</c:v>
                </c:pt>
                <c:pt idx="3">
                  <c:v>17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b="0" i="0" strike="noStrike" sz="1000" u="none">
                  <a:solidFill>
                    <a:srgbClr val="22303F"/>
                  </a:solidFill>
                  <a:latin typeface="+mn-lt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100" b="0" i="0" u="none" strike="noStrike">
                    <a:solidFill>
                      <a:srgbClr val="6B7785"/>
                    </a:solidFill>
                    <a:latin typeface="Arial"/>
                  </a:defRPr>
                </a:pPr>
                <a:r>
                  <a:rPr sz="1100" b="0" i="0" u="none" strike="noStrike">
                    <a:solidFill>
                      <a:srgbClr val="6B7785"/>
                    </a:solidFill>
                    <a:latin typeface="Arial"/>
                  </a:rPr>
                  <a:t>쓰는 치즈 코인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B7785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</c:scaling>
        <c:delete val="0"/>
        <c:axPos val="l"/>
        <c:majorGridlines>
          <c:spPr>
            <a:ln w="6350" cap="flat">
              <a:solidFill>
                <a:srgbClr val="D5DEE7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785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22303F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3" name="Text 0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785"/>
                </a:solidFill>
              </a:rPr>
              <a:t>쥐 비행기 게임 (가제) · 컨셉 기획서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78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1F314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78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image" Target="../media/image-12-6.png"/><Relationship Id="rId7" Type="http://schemas.openxmlformats.org/officeDocument/2006/relationships/image" Target="../media/image-12-7.png"/><Relationship Id="rId8" Type="http://schemas.openxmlformats.org/officeDocument/2006/relationships/image" Target="../media/image-12-8.png"/><Relationship Id="rId9" Type="http://schemas.openxmlformats.org/officeDocument/2006/relationships/image" Target="../media/image-12-9.png"/><Relationship Id="rId10" Type="http://schemas.openxmlformats.org/officeDocument/2006/relationships/image" Target="../media/image-12-10.png"/><Relationship Id="rId11" Type="http://schemas.openxmlformats.org/officeDocument/2006/relationships/image" Target="../media/image-12-11.png"/><Relationship Id="rId12" Type="http://schemas.openxmlformats.org/officeDocument/2006/relationships/image" Target="../media/image-12-12.png"/><Relationship Id="rId13" Type="http://schemas.openxmlformats.org/officeDocument/2006/relationships/image" Target="../media/image-12-13.png"/><Relationship Id="rId14" Type="http://schemas.openxmlformats.org/officeDocument/2006/relationships/image" Target="../media/image-12-14.png"/><Relationship Id="rId15" Type="http://schemas.openxmlformats.org/officeDocument/2006/relationships/image" Target="../media/image-12-15.png"/><Relationship Id="rId16" Type="http://schemas.openxmlformats.org/officeDocument/2006/relationships/image" Target="../media/image-12-16.png"/><Relationship Id="rId17" Type="http://schemas.openxmlformats.org/officeDocument/2006/relationships/slideLayout" Target="../slideLayouts/slideLayout2.xml"/><Relationship Id="rId18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image" Target="../media/image-14-1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image" Target="../media/image-15-5.png"/><Relationship Id="rId6" Type="http://schemas.openxmlformats.org/officeDocument/2006/relationships/image" Target="../media/image-15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/Project/RatPlain/art/sprites/title_bg_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어둡게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147">
              <a:alpha val="65000"/>
            </a:srgbClr>
          </a:solidFill>
          <a:ln w="12700">
            <a:solidFill>
              <a:srgbClr val="1F3147">
                <a:alpha val="0"/>
              </a:srgbClr>
            </a:solidFill>
            <a:prstDash val="solid"/>
          </a:ln>
        </p:spPr>
      </p:sp>
      <p:pic>
        <p:nvPicPr>
          <p:cNvPr id="4" name="Image 1" descr="C:/Project/RatPlain/art/sprites/title_art_0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0" y="1473821"/>
            <a:ext cx="6126480" cy="3818919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548640" y="2103120"/>
            <a:ext cx="5486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쥐 비행기 게임 (가제)</a:t>
            </a:r>
            <a:endParaRPr lang="en-US" sz="4000" dirty="0"/>
          </a:p>
        </p:txBody>
      </p:sp>
      <p:sp>
        <p:nvSpPr>
          <p:cNvPr id="6" name="Text 2"/>
          <p:cNvSpPr txBox="1"/>
          <p:nvPr/>
        </p:nvSpPr>
        <p:spPr>
          <a:xfrm>
            <a:off x="548640" y="30175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F5B8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컨셉 기획서</a:t>
            </a:r>
            <a:endParaRPr lang="en-US" sz="2400" dirty="0"/>
          </a:p>
        </p:txBody>
      </p:sp>
      <p:sp>
        <p:nvSpPr>
          <p:cNvPr id="7" name="Text 3"/>
          <p:cNvSpPr txBox="1"/>
          <p:nvPr/>
        </p:nvSpPr>
        <p:spPr>
          <a:xfrm>
            <a:off x="548640" y="365760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로그라이트 탑뷰 탄막 슈팅 · PC</a:t>
            </a:r>
            <a:endParaRPr lang="en-US" sz="1600" dirty="0"/>
          </a:p>
        </p:txBody>
      </p:sp>
      <p:sp>
        <p:nvSpPr>
          <p:cNvPr id="8" name="Text 4"/>
          <p:cNvSpPr txBox="1"/>
          <p:nvPr/>
        </p:nvSpPr>
        <p:spPr>
          <a:xfrm>
            <a:off x="548640" y="594360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2026.10.28</a:t>
            </a:r>
            <a:endParaRPr lang="en-US" sz="1200" dirty="0"/>
          </a:p>
        </p:txBody>
      </p:sp>
      <p:sp>
        <p:nvSpPr>
          <p:cNvPr id="9" name="Text 0"/>
          <p:cNvSpPr/>
          <p:nvPr>
            <p:ph idx="100" type="title" hasCustomPrompt="1"/>
          </p:nvPr>
        </p:nvSpPr>
        <p:spPr>
          <a:xfrm>
            <a:off x="548640" y="36576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3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기획의도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71600"/>
            <a:ext cx="6583680" cy="4754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2230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원작의 가볍고 캐쥬얼한 감성을 살릴 수 있는 ip 확장 게임을 만들자</a:t>
            </a:r>
            <a:endParaRPr lang="en-US" sz="160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2230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특정 캐릭터(슈퍼맨 쥐, 과학자 쥐)를 따 와서 ip 확장을 시도. 본편이랑은 별개 게임, 캐릭터랑 그림체만 가져옴</a:t>
            </a:r>
            <a:endParaRPr lang="en-US" sz="160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2230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로그라이트형 탄막 슈팅. 한 판은 짧게(5~8분), 판 안에서는 매번 빌드가 달라지고 판 밖에서는 기체가 계속 성장</a:t>
            </a:r>
            <a:endParaRPr lang="en-US" sz="160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2230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슈팅은 규칙이 단순해서 캐릭터를 바로 조작하는 재미로 바꾸기 좋고, 반복 구조라 적은 콘텐츠로도 오래 놀 수 있음</a:t>
            </a:r>
            <a:endParaRPr lang="en-US" sz="160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2230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비행기는 실제 비행기 발전 순서대로 진화 → 모으는 재미 + 눈에 보이는 변화</a:t>
            </a:r>
            <a:endParaRPr lang="en-US" sz="1600" dirty="0"/>
          </a:p>
        </p:txBody>
      </p:sp>
      <p:sp>
        <p:nvSpPr>
          <p:cNvPr id="4" name="캐릭터 배경"/>
          <p:cNvSpPr/>
          <p:nvPr/>
        </p:nvSpPr>
        <p:spPr>
          <a:xfrm>
            <a:off x="7589520" y="1371600"/>
            <a:ext cx="4023360" cy="4754880"/>
          </a:xfrm>
          <a:prstGeom prst="roundRect">
            <a:avLst>
              <a:gd name="adj" fmla="val 2727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pic>
        <p:nvPicPr>
          <p:cNvPr id="5" name="Image 0" descr="C:/Project/RatPlain/art/sprites/scientist_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0" y="1887627"/>
            <a:ext cx="1828800" cy="2625546"/>
          </a:xfrm>
          <a:prstGeom prst="rect">
            <a:avLst/>
          </a:prstGeom>
        </p:spPr>
      </p:pic>
      <p:pic>
        <p:nvPicPr>
          <p:cNvPr id="6" name="Image 1" descr="C:/Project/RatPlain/art/sprites/player_0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92640" y="2290189"/>
            <a:ext cx="1737360" cy="1820421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7772400" y="49377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230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과학자 쥐</a:t>
            </a:r>
            <a:endParaRPr lang="en-US" sz="1400" dirty="0"/>
          </a:p>
        </p:txBody>
      </p:sp>
      <p:sp>
        <p:nvSpPr>
          <p:cNvPr id="8" name="Text 4"/>
          <p:cNvSpPr txBox="1"/>
          <p:nvPr/>
        </p:nvSpPr>
        <p:spPr>
          <a:xfrm>
            <a:off x="9509760" y="493776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230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슈퍼맨 쥐 + 쥐돌이 1호</a:t>
            </a:r>
            <a:endParaRPr lang="en-US" sz="1400" dirty="0"/>
          </a:p>
        </p:txBody>
      </p:sp>
      <p:sp>
        <p:nvSpPr>
          <p:cNvPr id="9" name="Text 5"/>
          <p:cNvSpPr txBox="1"/>
          <p:nvPr/>
        </p:nvSpPr>
        <p:spPr>
          <a:xfrm>
            <a:off x="7772400" y="539496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비행기 만들어 주는 쪽 / 타는 쪽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78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원페이지 기획서</a:t>
            </a:r>
            <a:endParaRPr lang="en-US" sz="30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6035040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475488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제목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37160" marR="91440" marT="36576" marB="36576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14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30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쥐 비행기 게임 (가제)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37160" marR="91440" marT="36576" marB="36576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장르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37160" marR="91440" marT="36576" marB="36576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14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30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로그라이트 탑뷰 탄막 슈팅 (공중 도그 파이트)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37160" marR="91440" marT="36576" marB="36576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플랫폼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37160" marR="91440" marT="36576" marB="36576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14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30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PC (스팀), 키보드 + 마우스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37160" marR="91440" marT="36576" marB="36576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BM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37160" marR="91440" marT="36576" marB="36576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14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30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패키지 판매. 뽑기는 게임 안 재화로만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37160" marR="91440" marT="36576" marB="36576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타겟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37160" marR="91440" marT="36576" marB="36576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14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30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원작 팬, 캐쥬얼하게 슈팅 / 로그라이트 하는 유저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37160" marR="91440" marT="36576" marB="36576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레퍼런스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37160" marR="91440" marT="36576" marB="36576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14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30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1942, 동방 프로젝트, Luftrausers, 하데스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37160" marR="91440" marT="36576" marB="36576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볼륨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37160" marR="91440" marT="36576" marB="36576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14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30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스테이지 10, 보스 10, 기체 16, 장비 224종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37160" marR="91440" marT="36576" marB="36576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A"/>
                    </a:solidFill>
                  </a:tcPr>
                </a:tc>
              </a:tr>
            </a:tbl>
          </a:graphicData>
        </a:graphic>
      </p:graphicFrame>
      <p:pic>
        <p:nvPicPr>
          <p:cNvPr id="4" name="Image 0" descr="C:\Users\user\AppData\Local\Temp\claude\C--Users-user--claude-spares-spare-cMTDoQ\51d05372-0cc7-4dfa-9db6-7ff69ccb6c2d\scratchpad\shots/b7_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0" y="1372172"/>
            <a:ext cx="4663440" cy="2623185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6949440" y="406908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웹 데모 7스테이지 (화산섬). 빨간 원 = 용암 분화 예고</a:t>
            </a:r>
            <a:endParaRPr lang="en-US" sz="1100" dirty="0"/>
          </a:p>
        </p:txBody>
      </p:sp>
      <p:sp>
        <p:nvSpPr>
          <p:cNvPr id="6" name="Text 2"/>
          <p:cNvSpPr txBox="1"/>
          <p:nvPr/>
        </p:nvSpPr>
        <p:spPr>
          <a:xfrm>
            <a:off x="6949440" y="4572000"/>
            <a:ext cx="46634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230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스테이지: 바다 → 폭풍 → 설산 → 고양이 도시 → 성층권 → 사막 → 화산 → 밀림 → 하늘 요새 → 달 궤도</a:t>
            </a:r>
            <a:endParaRPr lang="en-US" sz="13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230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비행기도 같이 복엽기 → 제트기 → 우주 요격기 식으로 바뀌어 감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78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핵심 재미</a:t>
            </a:r>
            <a:endParaRPr lang="en-US" sz="3000" dirty="0"/>
          </a:p>
        </p:txBody>
      </p:sp>
      <p:sp>
        <p:nvSpPr>
          <p:cNvPr id="3" name="재미 카드 1"/>
          <p:cNvSpPr/>
          <p:nvPr/>
        </p:nvSpPr>
        <p:spPr>
          <a:xfrm>
            <a:off x="548640" y="1371600"/>
            <a:ext cx="3454298" cy="4754880"/>
          </a:xfrm>
          <a:prstGeom prst="roundRect">
            <a:avLst>
              <a:gd name="adj" fmla="val 3177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4" name="번호 1"/>
          <p:cNvSpPr/>
          <p:nvPr/>
        </p:nvSpPr>
        <p:spPr>
          <a:xfrm>
            <a:off x="868680" y="1645920"/>
            <a:ext cx="548640" cy="548640"/>
          </a:xfrm>
          <a:prstGeom prst="ellipse">
            <a:avLst/>
          </a:prstGeom>
          <a:solidFill>
            <a:srgbClr val="5B9FCF"/>
          </a:solidFill>
          <a:ln w="12700">
            <a:solidFill>
              <a:srgbClr val="5B9FC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68680" y="16459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2000" dirty="0"/>
          </a:p>
        </p:txBody>
      </p:sp>
      <p:pic>
        <p:nvPicPr>
          <p:cNvPr id="6" name="Image 0" descr="C:/Project/RatPlain/art/sprites/e_hawk_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30644" y="2377440"/>
            <a:ext cx="1290290" cy="182880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868680" y="4389120"/>
            <a:ext cx="28142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F31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컨트롤로 깨는 공중전</a:t>
            </a:r>
            <a:endParaRPr lang="en-US" sz="2000" dirty="0"/>
          </a:p>
        </p:txBody>
      </p:sp>
      <p:sp>
        <p:nvSpPr>
          <p:cNvPr id="8" name="Text 5"/>
          <p:cNvSpPr txBox="1"/>
          <p:nvPr/>
        </p:nvSpPr>
        <p:spPr>
          <a:xfrm>
            <a:off x="868680" y="4937760"/>
            <a:ext cx="281421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230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기체 성능이 안 좋더라도 다가갈지 / 빠질지 판단이랑 회피로 클리어 가능</a:t>
            </a:r>
            <a:endParaRPr lang="en-US" sz="1400" dirty="0"/>
          </a:p>
        </p:txBody>
      </p:sp>
      <p:sp>
        <p:nvSpPr>
          <p:cNvPr id="9" name="재미 카드 2"/>
          <p:cNvSpPr/>
          <p:nvPr/>
        </p:nvSpPr>
        <p:spPr>
          <a:xfrm>
            <a:off x="4368698" y="1371600"/>
            <a:ext cx="3454298" cy="4754880"/>
          </a:xfrm>
          <a:prstGeom prst="roundRect">
            <a:avLst>
              <a:gd name="adj" fmla="val 3177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10" name="번호 2"/>
          <p:cNvSpPr/>
          <p:nvPr/>
        </p:nvSpPr>
        <p:spPr>
          <a:xfrm>
            <a:off x="4688738" y="1645920"/>
            <a:ext cx="548640" cy="548640"/>
          </a:xfrm>
          <a:prstGeom prst="ellipse">
            <a:avLst/>
          </a:prstGeom>
          <a:solidFill>
            <a:srgbClr val="E0533A"/>
          </a:solidFill>
          <a:ln w="12700">
            <a:solidFill>
              <a:srgbClr val="E0533A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4688738" y="16459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2000" dirty="0"/>
          </a:p>
        </p:txBody>
      </p:sp>
      <p:pic>
        <p:nvPicPr>
          <p:cNvPr id="12" name="Image 1" descr="C:/Project/RatPlain/art/sprites/player_0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23169" y="2377440"/>
            <a:ext cx="1745357" cy="18288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4688738" y="4389120"/>
            <a:ext cx="28142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F31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쏠지 말지 고민</a:t>
            </a:r>
            <a:endParaRPr lang="en-US" sz="2000" dirty="0"/>
          </a:p>
        </p:txBody>
      </p:sp>
      <p:sp>
        <p:nvSpPr>
          <p:cNvPr id="14" name="Text 10"/>
          <p:cNvSpPr txBox="1"/>
          <p:nvPr/>
        </p:nvSpPr>
        <p:spPr>
          <a:xfrm>
            <a:off x="4688738" y="4937760"/>
            <a:ext cx="281421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230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쏘는 동안은 체력이 안 참. 공격 타이밍 자체가 선택이 됨</a:t>
            </a:r>
            <a:endParaRPr lang="en-US" sz="1400" dirty="0"/>
          </a:p>
        </p:txBody>
      </p:sp>
      <p:sp>
        <p:nvSpPr>
          <p:cNvPr id="15" name="재미 카드 3"/>
          <p:cNvSpPr/>
          <p:nvPr/>
        </p:nvSpPr>
        <p:spPr>
          <a:xfrm>
            <a:off x="8188757" y="1371600"/>
            <a:ext cx="3454298" cy="4754880"/>
          </a:xfrm>
          <a:prstGeom prst="roundRect">
            <a:avLst>
              <a:gd name="adj" fmla="val 3177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16" name="번호 3"/>
          <p:cNvSpPr/>
          <p:nvPr/>
        </p:nvSpPr>
        <p:spPr>
          <a:xfrm>
            <a:off x="8508797" y="1645920"/>
            <a:ext cx="548640" cy="548640"/>
          </a:xfrm>
          <a:prstGeom prst="ellipse">
            <a:avLst/>
          </a:prstGeom>
          <a:solidFill>
            <a:srgbClr val="F5B82E"/>
          </a:solidFill>
          <a:ln w="12700">
            <a:solidFill>
              <a:srgbClr val="F5B82E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8508797" y="16459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2000" dirty="0"/>
          </a:p>
        </p:txBody>
      </p:sp>
      <p:pic>
        <p:nvPicPr>
          <p:cNvPr id="18" name="Image 2" descr="C:/Project/RatPlain/art/sprites/player_stealth_0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48305" y="2377440"/>
            <a:ext cx="1935203" cy="1828800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8508797" y="4389120"/>
            <a:ext cx="28142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F31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매번 다른 비행기</a:t>
            </a:r>
            <a:endParaRPr lang="en-US" sz="2000" dirty="0"/>
          </a:p>
        </p:txBody>
      </p:sp>
      <p:sp>
        <p:nvSpPr>
          <p:cNvPr id="20" name="Text 15"/>
          <p:cNvSpPr txBox="1"/>
          <p:nvPr/>
        </p:nvSpPr>
        <p:spPr>
          <a:xfrm>
            <a:off x="8508797" y="4937760"/>
            <a:ext cx="281421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230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 안에서는 현장 개조로 빌드가 바뀌고, 판 밖에서는 기체랑 장비가 쌓임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78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게임 루프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5B9FC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 안 (출격 한 번, 5~8분)</a:t>
            </a:r>
            <a:endParaRPr lang="en-US" sz="1600" dirty="0"/>
          </a:p>
        </p:txBody>
      </p:sp>
      <p:sp>
        <p:nvSpPr>
          <p:cNvPr id="4" name="판 안 1"/>
          <p:cNvSpPr/>
          <p:nvPr/>
        </p:nvSpPr>
        <p:spPr>
          <a:xfrm>
            <a:off x="548640" y="1828800"/>
            <a:ext cx="1828800" cy="1005840"/>
          </a:xfrm>
          <a:prstGeom prst="roundRect">
            <a:avLst>
              <a:gd name="adj" fmla="val 10909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828800"/>
            <a:ext cx="1828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F31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웨이브 전투</a:t>
            </a:r>
            <a:endParaRPr lang="en-US" sz="1500" dirty="0"/>
          </a:p>
        </p:txBody>
      </p:sp>
      <p:sp>
        <p:nvSpPr>
          <p:cNvPr id="6" name="화살표 1"/>
          <p:cNvSpPr/>
          <p:nvPr/>
        </p:nvSpPr>
        <p:spPr>
          <a:xfrm>
            <a:off x="2438362" y="2194560"/>
            <a:ext cx="365760" cy="274320"/>
          </a:xfrm>
          <a:prstGeom prst="rightArrow">
            <a:avLst/>
          </a:prstGeom>
          <a:solidFill>
            <a:srgbClr val="6B7785"/>
          </a:solidFill>
          <a:ln w="12700">
            <a:solidFill>
              <a:srgbClr val="6B7785"/>
            </a:solidFill>
            <a:prstDash val="solid"/>
          </a:ln>
        </p:spPr>
      </p:sp>
      <p:sp>
        <p:nvSpPr>
          <p:cNvPr id="7" name="판 안 2"/>
          <p:cNvSpPr/>
          <p:nvPr/>
        </p:nvSpPr>
        <p:spPr>
          <a:xfrm>
            <a:off x="2865044" y="1828800"/>
            <a:ext cx="1828800" cy="1005840"/>
          </a:xfrm>
          <a:prstGeom prst="roundRect">
            <a:avLst>
              <a:gd name="adj" fmla="val 10909"/>
            </a:avLst>
          </a:prstGeom>
          <a:solidFill>
            <a:srgbClr val="F5B82E"/>
          </a:solidFill>
          <a:ln w="12700">
            <a:solidFill>
              <a:srgbClr val="F5B82E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865044" y="1828800"/>
            <a:ext cx="1828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F31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현장 개조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b="1" dirty="0">
                <a:solidFill>
                  <a:srgbClr val="1F31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3개 중 1개</a:t>
            </a:r>
            <a:endParaRPr lang="en-US" sz="1500" dirty="0"/>
          </a:p>
        </p:txBody>
      </p:sp>
      <p:sp>
        <p:nvSpPr>
          <p:cNvPr id="9" name="화살표 2"/>
          <p:cNvSpPr/>
          <p:nvPr/>
        </p:nvSpPr>
        <p:spPr>
          <a:xfrm>
            <a:off x="4754766" y="2194560"/>
            <a:ext cx="365760" cy="274320"/>
          </a:xfrm>
          <a:prstGeom prst="rightArrow">
            <a:avLst/>
          </a:prstGeom>
          <a:solidFill>
            <a:srgbClr val="6B7785"/>
          </a:solidFill>
          <a:ln w="12700">
            <a:solidFill>
              <a:srgbClr val="6B7785"/>
            </a:solidFill>
            <a:prstDash val="solid"/>
          </a:ln>
        </p:spPr>
      </p:sp>
      <p:sp>
        <p:nvSpPr>
          <p:cNvPr id="10" name="판 안 3"/>
          <p:cNvSpPr/>
          <p:nvPr/>
        </p:nvSpPr>
        <p:spPr>
          <a:xfrm>
            <a:off x="5181448" y="1828800"/>
            <a:ext cx="1828800" cy="1005840"/>
          </a:xfrm>
          <a:prstGeom prst="roundRect">
            <a:avLst>
              <a:gd name="adj" fmla="val 10909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181448" y="1828800"/>
            <a:ext cx="1828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F31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다음 웨이브</a:t>
            </a:r>
            <a:endParaRPr lang="en-US" sz="1500" dirty="0"/>
          </a:p>
        </p:txBody>
      </p:sp>
      <p:sp>
        <p:nvSpPr>
          <p:cNvPr id="12" name="화살표 3"/>
          <p:cNvSpPr/>
          <p:nvPr/>
        </p:nvSpPr>
        <p:spPr>
          <a:xfrm>
            <a:off x="7071170" y="2194560"/>
            <a:ext cx="365760" cy="274320"/>
          </a:xfrm>
          <a:prstGeom prst="rightArrow">
            <a:avLst/>
          </a:prstGeom>
          <a:solidFill>
            <a:srgbClr val="6B7785"/>
          </a:solidFill>
          <a:ln w="12700">
            <a:solidFill>
              <a:srgbClr val="6B7785"/>
            </a:solidFill>
            <a:prstDash val="solid"/>
          </a:ln>
        </p:spPr>
      </p:sp>
      <p:sp>
        <p:nvSpPr>
          <p:cNvPr id="13" name="판 안 4"/>
          <p:cNvSpPr/>
          <p:nvPr/>
        </p:nvSpPr>
        <p:spPr>
          <a:xfrm>
            <a:off x="7497851" y="1828800"/>
            <a:ext cx="1828800" cy="1005840"/>
          </a:xfrm>
          <a:prstGeom prst="roundRect">
            <a:avLst>
              <a:gd name="adj" fmla="val 10909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497851" y="1828800"/>
            <a:ext cx="1828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F31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보스</a:t>
            </a:r>
            <a:endParaRPr lang="en-US" sz="1500" dirty="0"/>
          </a:p>
        </p:txBody>
      </p:sp>
      <p:sp>
        <p:nvSpPr>
          <p:cNvPr id="15" name="화살표 4"/>
          <p:cNvSpPr/>
          <p:nvPr/>
        </p:nvSpPr>
        <p:spPr>
          <a:xfrm>
            <a:off x="9387573" y="2194560"/>
            <a:ext cx="365760" cy="274320"/>
          </a:xfrm>
          <a:prstGeom prst="rightArrow">
            <a:avLst/>
          </a:prstGeom>
          <a:solidFill>
            <a:srgbClr val="6B7785"/>
          </a:solidFill>
          <a:ln w="12700">
            <a:solidFill>
              <a:srgbClr val="6B7785"/>
            </a:solidFill>
            <a:prstDash val="solid"/>
          </a:ln>
        </p:spPr>
      </p:sp>
      <p:sp>
        <p:nvSpPr>
          <p:cNvPr id="16" name="판 안 5"/>
          <p:cNvSpPr/>
          <p:nvPr/>
        </p:nvSpPr>
        <p:spPr>
          <a:xfrm>
            <a:off x="9814255" y="1828800"/>
            <a:ext cx="1828800" cy="1005840"/>
          </a:xfrm>
          <a:prstGeom prst="roundRect">
            <a:avLst>
              <a:gd name="adj" fmla="val 10909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9814255" y="1828800"/>
            <a:ext cx="1828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F31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클리어 보상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548640" y="33832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E053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 밖 (격납고)</a:t>
            </a:r>
            <a:endParaRPr lang="en-US" sz="1600" dirty="0"/>
          </a:p>
        </p:txBody>
      </p:sp>
      <p:sp>
        <p:nvSpPr>
          <p:cNvPr id="19" name="판 밖 1"/>
          <p:cNvSpPr/>
          <p:nvPr/>
        </p:nvSpPr>
        <p:spPr>
          <a:xfrm>
            <a:off x="548640" y="3886200"/>
            <a:ext cx="2377440" cy="1005840"/>
          </a:xfrm>
          <a:prstGeom prst="roundRect">
            <a:avLst>
              <a:gd name="adj" fmla="val 10909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48640" y="3886200"/>
            <a:ext cx="23774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F31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재료 / 치즈 코인</a:t>
            </a:r>
            <a:endParaRPr lang="en-US" sz="1500" dirty="0"/>
          </a:p>
        </p:txBody>
      </p:sp>
      <p:sp>
        <p:nvSpPr>
          <p:cNvPr id="21" name="화살표 b1"/>
          <p:cNvSpPr/>
          <p:nvPr/>
        </p:nvSpPr>
        <p:spPr>
          <a:xfrm>
            <a:off x="3007309" y="4251960"/>
            <a:ext cx="365760" cy="274320"/>
          </a:xfrm>
          <a:prstGeom prst="rightArrow">
            <a:avLst/>
          </a:prstGeom>
          <a:solidFill>
            <a:srgbClr val="6B7785"/>
          </a:solidFill>
          <a:ln w="12700">
            <a:solidFill>
              <a:srgbClr val="6B7785"/>
            </a:solidFill>
            <a:prstDash val="solid"/>
          </a:ln>
        </p:spPr>
      </p:sp>
      <p:sp>
        <p:nvSpPr>
          <p:cNvPr id="22" name="판 밖 2"/>
          <p:cNvSpPr/>
          <p:nvPr/>
        </p:nvSpPr>
        <p:spPr>
          <a:xfrm>
            <a:off x="3454298" y="3886200"/>
            <a:ext cx="2377440" cy="1005840"/>
          </a:xfrm>
          <a:prstGeom prst="roundRect">
            <a:avLst>
              <a:gd name="adj" fmla="val 10909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3454298" y="3886200"/>
            <a:ext cx="23774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F31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기체 사기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b="1" dirty="0">
                <a:solidFill>
                  <a:srgbClr val="1F31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연구 의뢰 · 합성</a:t>
            </a:r>
            <a:endParaRPr lang="en-US" sz="1500" dirty="0"/>
          </a:p>
        </p:txBody>
      </p:sp>
      <p:sp>
        <p:nvSpPr>
          <p:cNvPr id="24" name="화살표 b2"/>
          <p:cNvSpPr/>
          <p:nvPr/>
        </p:nvSpPr>
        <p:spPr>
          <a:xfrm>
            <a:off x="5912968" y="4251960"/>
            <a:ext cx="365760" cy="274320"/>
          </a:xfrm>
          <a:prstGeom prst="rightArrow">
            <a:avLst/>
          </a:prstGeom>
          <a:solidFill>
            <a:srgbClr val="6B7785"/>
          </a:solidFill>
          <a:ln w="12700">
            <a:solidFill>
              <a:srgbClr val="6B7785"/>
            </a:solidFill>
            <a:prstDash val="solid"/>
          </a:ln>
        </p:spPr>
      </p:sp>
      <p:sp>
        <p:nvSpPr>
          <p:cNvPr id="25" name="판 밖 3"/>
          <p:cNvSpPr/>
          <p:nvPr/>
        </p:nvSpPr>
        <p:spPr>
          <a:xfrm>
            <a:off x="6359957" y="3886200"/>
            <a:ext cx="2377440" cy="1005840"/>
          </a:xfrm>
          <a:prstGeom prst="roundRect">
            <a:avLst>
              <a:gd name="adj" fmla="val 10909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359957" y="3886200"/>
            <a:ext cx="23774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F31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맵에 맞는 기체 고르기</a:t>
            </a:r>
            <a:endParaRPr lang="en-US" sz="1500" dirty="0"/>
          </a:p>
        </p:txBody>
      </p:sp>
      <p:sp>
        <p:nvSpPr>
          <p:cNvPr id="27" name="화살표 b3"/>
          <p:cNvSpPr/>
          <p:nvPr/>
        </p:nvSpPr>
        <p:spPr>
          <a:xfrm>
            <a:off x="8818626" y="4251960"/>
            <a:ext cx="365760" cy="274320"/>
          </a:xfrm>
          <a:prstGeom prst="rightArrow">
            <a:avLst/>
          </a:prstGeom>
          <a:solidFill>
            <a:srgbClr val="6B7785"/>
          </a:solidFill>
          <a:ln w="12700">
            <a:solidFill>
              <a:srgbClr val="6B7785"/>
            </a:solidFill>
            <a:prstDash val="solid"/>
          </a:ln>
        </p:spPr>
      </p:sp>
      <p:sp>
        <p:nvSpPr>
          <p:cNvPr id="28" name="판 밖 4"/>
          <p:cNvSpPr/>
          <p:nvPr/>
        </p:nvSpPr>
        <p:spPr>
          <a:xfrm>
            <a:off x="9265615" y="3886200"/>
            <a:ext cx="2377440" cy="1005840"/>
          </a:xfrm>
          <a:prstGeom prst="roundRect">
            <a:avLst>
              <a:gd name="adj" fmla="val 10909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9265615" y="3886200"/>
            <a:ext cx="23774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F31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다시 출격</a:t>
            </a:r>
            <a:endParaRPr lang="en-US" sz="1500" dirty="0"/>
          </a:p>
        </p:txBody>
      </p:sp>
      <p:sp>
        <p:nvSpPr>
          <p:cNvPr id="30" name="추락 메모"/>
          <p:cNvSpPr/>
          <p:nvPr/>
        </p:nvSpPr>
        <p:spPr>
          <a:xfrm>
            <a:off x="548640" y="5257800"/>
            <a:ext cx="11094415" cy="868680"/>
          </a:xfrm>
          <a:prstGeom prst="roundRect">
            <a:avLst>
              <a:gd name="adj" fmla="val 12632"/>
            </a:avLst>
          </a:prstGeom>
          <a:solidFill>
            <a:srgbClr val="FDF1D6"/>
          </a:solidFill>
          <a:ln w="12700">
            <a:solidFill>
              <a:srgbClr val="FDF1D6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822960" y="525780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230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추락해도 모은 재료 절반은 가져감. 망해도 조금은 남아서 다시 들어갈 이유가 됨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78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비행 / 조작, 체력 / 부스트</a:t>
            </a:r>
            <a:endParaRPr lang="en-US" sz="3000" dirty="0"/>
          </a:p>
        </p:txBody>
      </p:sp>
      <p:pic>
        <p:nvPicPr>
          <p:cNvPr id="3" name="Image 0" descr="C:\Users\user\AppData\Local\Temp\claude\C--Users-user--claude-spares-spare-cMTDoQ\51d05372-0cc7-4dfa-9db6-7ff69ccb6c2d\scratchpad\shots/battle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71600"/>
            <a:ext cx="5852160" cy="329184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8640" y="4754880"/>
            <a:ext cx="5852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1스테이지. 바다에 그림자, 구름이 위로 지나감</a:t>
            </a:r>
            <a:endParaRPr lang="en-US" sz="11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5212080"/>
            <a:ext cx="5852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230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탑뷰 360도 자유 비행, 비행기는 항상 앞으로 날아감</a:t>
            </a:r>
            <a:endParaRPr lang="en-US" sz="13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230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WASD = 날아갈 방향, 마우스 = 조준, 좌클릭 = 사격, 스페이스 = 부스트</a:t>
            </a:r>
            <a:endParaRPr lang="en-US" sz="1300" dirty="0"/>
          </a:p>
        </p:txBody>
      </p:sp>
      <p:sp>
        <p:nvSpPr>
          <p:cNvPr id="6" name="체력 카드"/>
          <p:cNvSpPr/>
          <p:nvPr/>
        </p:nvSpPr>
        <p:spPr>
          <a:xfrm>
            <a:off x="6766560" y="1371600"/>
            <a:ext cx="4876495" cy="2240280"/>
          </a:xfrm>
          <a:prstGeom prst="roundRect">
            <a:avLst>
              <a:gd name="adj" fmla="val 4898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040880" y="1554480"/>
            <a:ext cx="432785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E053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체력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7040880" y="2011680"/>
            <a:ext cx="4327855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2230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맞으면 깎임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2230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사격을 멈추고 1.4초 지나면 초당 14씩 회복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2230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쏠지 버틸지 계속 고르게 됨</a:t>
            </a:r>
            <a:endParaRPr lang="en-US" sz="1400" dirty="0"/>
          </a:p>
        </p:txBody>
      </p:sp>
      <p:sp>
        <p:nvSpPr>
          <p:cNvPr id="9" name="부스트 카드"/>
          <p:cNvSpPr/>
          <p:nvPr/>
        </p:nvSpPr>
        <p:spPr>
          <a:xfrm>
            <a:off x="6766560" y="3794760"/>
            <a:ext cx="4876495" cy="2331720"/>
          </a:xfrm>
          <a:prstGeom prst="roundRect">
            <a:avLst>
              <a:gd name="adj" fmla="val 4706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040880" y="3977640"/>
            <a:ext cx="432785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5B9FC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부스트</a:t>
            </a:r>
            <a:endParaRPr lang="en-US" sz="1800" dirty="0"/>
          </a:p>
        </p:txBody>
      </p:sp>
      <p:sp>
        <p:nvSpPr>
          <p:cNvPr id="11" name="Text 8"/>
          <p:cNvSpPr txBox="1"/>
          <p:nvPr/>
        </p:nvSpPr>
        <p:spPr>
          <a:xfrm>
            <a:off x="7040880" y="4434840"/>
            <a:ext cx="4327855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2230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게이지 2.2초 분량, 쓰면 줄고 알아서 다시 참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2230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위기 탈출, 급접근용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2230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장비 따라 부스트에 충격파 / 폭탄 투하 같은 효과가 붙음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78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몬스터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8872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유저가 가는 방향을 예측해서 쏨. 센 공격은 무조건 먼저 보여 줌. 붙어야 안전한 적이랑 떨어져야 안전한 적을 섞음</a:t>
            </a:r>
            <a:endParaRPr lang="en-US" sz="1400" dirty="0"/>
          </a:p>
        </p:txBody>
      </p:sp>
      <p:sp>
        <p:nvSpPr>
          <p:cNvPr id="4" name="하늘 고양이"/>
          <p:cNvSpPr/>
          <p:nvPr/>
        </p:nvSpPr>
        <p:spPr>
          <a:xfrm>
            <a:off x="548640" y="1783080"/>
            <a:ext cx="3515258" cy="2148840"/>
          </a:xfrm>
          <a:prstGeom prst="roundRect">
            <a:avLst>
              <a:gd name="adj" fmla="val 5106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pic>
        <p:nvPicPr>
          <p:cNvPr id="5" name="Image 0" descr="C:/Project/RatPlain/art/sprites/e_cat_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2420357"/>
            <a:ext cx="1005840" cy="828566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828800" y="2011680"/>
            <a:ext cx="209793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31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하늘 고양이</a:t>
            </a:r>
            <a:endParaRPr lang="en-US" sz="1700" dirty="0"/>
          </a:p>
        </p:txBody>
      </p:sp>
      <p:sp>
        <p:nvSpPr>
          <p:cNvPr id="7" name="Text 4"/>
          <p:cNvSpPr txBox="1"/>
          <p:nvPr/>
        </p:nvSpPr>
        <p:spPr>
          <a:xfrm>
            <a:off x="1828800" y="2514600"/>
            <a:ext cx="209793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230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앞질러 겨냥해 3연발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1828800" y="3154680"/>
            <a:ext cx="209793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053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대처: 방향 꺾어서 빗나가게</a:t>
            </a:r>
            <a:endParaRPr lang="en-US" sz="1300" dirty="0"/>
          </a:p>
        </p:txBody>
      </p:sp>
      <p:sp>
        <p:nvSpPr>
          <p:cNvPr id="9" name="매"/>
          <p:cNvSpPr/>
          <p:nvPr/>
        </p:nvSpPr>
        <p:spPr>
          <a:xfrm>
            <a:off x="4338218" y="1783080"/>
            <a:ext cx="3515258" cy="2148840"/>
          </a:xfrm>
          <a:prstGeom prst="roundRect">
            <a:avLst>
              <a:gd name="adj" fmla="val 5106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pic>
        <p:nvPicPr>
          <p:cNvPr id="10" name="Image 1" descr="C:/Project/RatPlain/art/sprites/e_hawk_0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94440" y="2148840"/>
            <a:ext cx="967718" cy="137160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618378" y="2011680"/>
            <a:ext cx="209793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31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</a:t>
            </a:r>
            <a:endParaRPr lang="en-US" sz="1700" dirty="0"/>
          </a:p>
        </p:txBody>
      </p:sp>
      <p:sp>
        <p:nvSpPr>
          <p:cNvPr id="12" name="Text 8"/>
          <p:cNvSpPr txBox="1"/>
          <p:nvPr/>
        </p:nvSpPr>
        <p:spPr>
          <a:xfrm>
            <a:off x="5618378" y="2514600"/>
            <a:ext cx="209793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230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빙빙 돌다 예고 뒤 급강하</a:t>
            </a:r>
            <a:endParaRPr lang="en-US" sz="1300" dirty="0"/>
          </a:p>
        </p:txBody>
      </p:sp>
      <p:sp>
        <p:nvSpPr>
          <p:cNvPr id="13" name="Text 9"/>
          <p:cNvSpPr txBox="1"/>
          <p:nvPr/>
        </p:nvSpPr>
        <p:spPr>
          <a:xfrm>
            <a:off x="5618378" y="3154680"/>
            <a:ext cx="209793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053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대처: 예고 지점 피하고 반격</a:t>
            </a:r>
            <a:endParaRPr lang="en-US" sz="1300" dirty="0"/>
          </a:p>
        </p:txBody>
      </p:sp>
      <p:sp>
        <p:nvSpPr>
          <p:cNvPr id="14" name="제비"/>
          <p:cNvSpPr/>
          <p:nvPr/>
        </p:nvSpPr>
        <p:spPr>
          <a:xfrm>
            <a:off x="8127797" y="1783080"/>
            <a:ext cx="3515258" cy="2148840"/>
          </a:xfrm>
          <a:prstGeom prst="roundRect">
            <a:avLst>
              <a:gd name="adj" fmla="val 5106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pic>
        <p:nvPicPr>
          <p:cNvPr id="15" name="Image 2" descr="C:/Project/RatPlain/art/sprites/e_swift_0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64957" y="2199748"/>
            <a:ext cx="1005840" cy="1269784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9407957" y="2011680"/>
            <a:ext cx="209793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31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제비</a:t>
            </a:r>
            <a:endParaRPr lang="en-US" sz="1700" dirty="0"/>
          </a:p>
        </p:txBody>
      </p:sp>
      <p:sp>
        <p:nvSpPr>
          <p:cNvPr id="17" name="Text 12"/>
          <p:cNvSpPr txBox="1"/>
          <p:nvPr/>
        </p:nvSpPr>
        <p:spPr>
          <a:xfrm>
            <a:off x="9407957" y="2514600"/>
            <a:ext cx="209793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230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지그재그로 스치며 2발</a:t>
            </a:r>
            <a:endParaRPr lang="en-US" sz="1300" dirty="0"/>
          </a:p>
        </p:txBody>
      </p:sp>
      <p:sp>
        <p:nvSpPr>
          <p:cNvPr id="18" name="Text 13"/>
          <p:cNvSpPr txBox="1"/>
          <p:nvPr/>
        </p:nvSpPr>
        <p:spPr>
          <a:xfrm>
            <a:off x="9407957" y="3154680"/>
            <a:ext cx="209793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053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대처: 지나간 뒤 따라가기</a:t>
            </a:r>
            <a:endParaRPr lang="en-US" sz="1300" dirty="0"/>
          </a:p>
        </p:txBody>
      </p:sp>
      <p:sp>
        <p:nvSpPr>
          <p:cNvPr id="19" name="폭격 고양이"/>
          <p:cNvSpPr/>
          <p:nvPr/>
        </p:nvSpPr>
        <p:spPr>
          <a:xfrm>
            <a:off x="548640" y="4206240"/>
            <a:ext cx="3515258" cy="2148840"/>
          </a:xfrm>
          <a:prstGeom prst="roundRect">
            <a:avLst>
              <a:gd name="adj" fmla="val 5106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pic>
        <p:nvPicPr>
          <p:cNvPr id="20" name="Image 3" descr="C:/Project/RatPlain/art/sprites/e_bomber_0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4731566"/>
            <a:ext cx="1005840" cy="1052468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1828800" y="4434840"/>
            <a:ext cx="209793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31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폭격 고양이</a:t>
            </a:r>
            <a:endParaRPr lang="en-US" sz="1700" dirty="0"/>
          </a:p>
        </p:txBody>
      </p:sp>
      <p:sp>
        <p:nvSpPr>
          <p:cNvPr id="22" name="Text 16"/>
          <p:cNvSpPr txBox="1"/>
          <p:nvPr/>
        </p:nvSpPr>
        <p:spPr>
          <a:xfrm>
            <a:off x="1828800" y="4937760"/>
            <a:ext cx="209793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230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느리고 단단, 원형탄</a:t>
            </a:r>
            <a:endParaRPr lang="en-US" sz="1300" dirty="0"/>
          </a:p>
        </p:txBody>
      </p:sp>
      <p:sp>
        <p:nvSpPr>
          <p:cNvPr id="23" name="Text 17"/>
          <p:cNvSpPr txBox="1"/>
          <p:nvPr/>
        </p:nvSpPr>
        <p:spPr>
          <a:xfrm>
            <a:off x="1828800" y="5577840"/>
            <a:ext cx="209793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053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대처: 원형탄 틈으로 파고들기</a:t>
            </a:r>
            <a:endParaRPr lang="en-US" sz="1300" dirty="0"/>
          </a:p>
        </p:txBody>
      </p:sp>
      <p:sp>
        <p:nvSpPr>
          <p:cNvPr id="24" name="고양이 드론"/>
          <p:cNvSpPr/>
          <p:nvPr/>
        </p:nvSpPr>
        <p:spPr>
          <a:xfrm>
            <a:off x="4338218" y="4206240"/>
            <a:ext cx="3515258" cy="2148840"/>
          </a:xfrm>
          <a:prstGeom prst="roundRect">
            <a:avLst>
              <a:gd name="adj" fmla="val 5106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pic>
        <p:nvPicPr>
          <p:cNvPr id="25" name="Image 4" descr="C:/Project/RatPlain/art/sprites/e_drone_0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75378" y="4751412"/>
            <a:ext cx="1005840" cy="1012777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5618378" y="4434840"/>
            <a:ext cx="209793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31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고양이 드론</a:t>
            </a:r>
            <a:endParaRPr lang="en-US" sz="1700" dirty="0"/>
          </a:p>
        </p:txBody>
      </p:sp>
      <p:sp>
        <p:nvSpPr>
          <p:cNvPr id="27" name="Text 20"/>
          <p:cNvSpPr txBox="1"/>
          <p:nvPr/>
        </p:nvSpPr>
        <p:spPr>
          <a:xfrm>
            <a:off x="5618378" y="4937760"/>
            <a:ext cx="209793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230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떼로 와서 깜빡 → 자폭</a:t>
            </a:r>
            <a:endParaRPr lang="en-US" sz="1300" dirty="0"/>
          </a:p>
        </p:txBody>
      </p:sp>
      <p:sp>
        <p:nvSpPr>
          <p:cNvPr id="28" name="Text 21"/>
          <p:cNvSpPr txBox="1"/>
          <p:nvPr/>
        </p:nvSpPr>
        <p:spPr>
          <a:xfrm>
            <a:off x="5618378" y="5577840"/>
            <a:ext cx="209793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053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대처: 깜빡일 때 부스트로 빠지기</a:t>
            </a:r>
            <a:endParaRPr lang="en-US" sz="1300" dirty="0"/>
          </a:p>
        </p:txBody>
      </p:sp>
      <p:sp>
        <p:nvSpPr>
          <p:cNvPr id="29" name="장갑 포함"/>
          <p:cNvSpPr/>
          <p:nvPr/>
        </p:nvSpPr>
        <p:spPr>
          <a:xfrm>
            <a:off x="8127797" y="4206240"/>
            <a:ext cx="3515258" cy="2148840"/>
          </a:xfrm>
          <a:prstGeom prst="roundRect">
            <a:avLst>
              <a:gd name="adj" fmla="val 5106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pic>
        <p:nvPicPr>
          <p:cNvPr id="30" name="Image 5" descr="C:/Project/RatPlain/art/sprites/e_gunship_0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64957" y="4762233"/>
            <a:ext cx="1005840" cy="991135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9407957" y="4434840"/>
            <a:ext cx="209793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31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장갑 포함</a:t>
            </a:r>
            <a:endParaRPr lang="en-US" sz="1700" dirty="0"/>
          </a:p>
        </p:txBody>
      </p:sp>
      <p:sp>
        <p:nvSpPr>
          <p:cNvPr id="32" name="Text 24"/>
          <p:cNvSpPr txBox="1"/>
          <p:nvPr/>
        </p:nvSpPr>
        <p:spPr>
          <a:xfrm>
            <a:off x="9407957" y="4937760"/>
            <a:ext cx="209793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230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주무장 피해 70% 덜 받음</a:t>
            </a:r>
            <a:endParaRPr lang="en-US" sz="1300" dirty="0"/>
          </a:p>
        </p:txBody>
      </p:sp>
      <p:sp>
        <p:nvSpPr>
          <p:cNvPr id="33" name="Text 25"/>
          <p:cNvSpPr txBox="1"/>
          <p:nvPr/>
        </p:nvSpPr>
        <p:spPr>
          <a:xfrm>
            <a:off x="9407957" y="5577840"/>
            <a:ext cx="209793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053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대처: 폭탄 / 관통 장비, 폭격기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78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스테이지 / 보스</a:t>
            </a:r>
            <a:endParaRPr lang="en-US" sz="30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80160"/>
          <a:ext cx="7680960" cy="914400"/>
        </p:xfrm>
        <a:graphic>
          <a:graphicData uri="http://schemas.openxmlformats.org/drawingml/2006/table">
            <a:tbl>
              <a:tblPr/>
              <a:tblGrid>
                <a:gridCol w="457200"/>
                <a:gridCol w="1600200"/>
                <a:gridCol w="1691640"/>
                <a:gridCol w="2926080"/>
                <a:gridCol w="1005840"/>
              </a:tblGrid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#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F314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스테이지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F314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보스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F314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패턴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F314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맵 특성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F3147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30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AF3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30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바다 위 하늘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AF3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30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고양이 비행선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AF3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30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대포 → 나선 탄막 → 원형탄 + 졸개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AF3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30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AF3FA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30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30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폭풍 구름 위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30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천둥 독수리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30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깃털 부채 → 번개 → 급강하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30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30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AF3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30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눈 덮인 산맥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AF3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30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눈보라 부엉이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AF3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30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이중 나선 → 유도 얼음 → 얼음 벽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AF3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30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AF3FA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30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30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고양이 도시의 밤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30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고양이 공중 전함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30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포탑 4문 → 측면 사격 → 주포 광선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30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30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AF3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30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성층권 너머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AF3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30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고양이 대왕 로켓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AF3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30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체력 3구간 복합 패턴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AF3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30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AF3FA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30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6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30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모래바람 사막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30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모래폭풍 콘도르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30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깃털 부채 → 모래 회오리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30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모래폭풍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30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7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AF3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30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불타는 화산섬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AF3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30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용암 불사조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AF3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30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불꽃 고리 → 화염 돌진, 한 번 부활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AF3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30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분화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AF3FA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30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8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30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안개 낀 밀림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30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밀림 하피 독수리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30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사라졌다가 화면 밖에서 기습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30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안개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30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9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AF3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30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고양이 하늘 요새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AF3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30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고양이 하늘 항모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AF3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30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드론 발진 → 유도 미사일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AF3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30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대공포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AF3FA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30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10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30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달 궤도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30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고양이 황제 모선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30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체력 3구간, 회전 광선 / 유성우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30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무중력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4" name="Image 0" descr="C:\Users\user\AppData\Local\Temp\claude\C--Users-user--claude-spares-spare-cMTDoQ\51d05372-0cc7-4dfa-9db6-7ff69ccb6c2d\scratchpad\shots/b4_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03920" y="1280446"/>
            <a:ext cx="3136392" cy="1764221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8503920" y="3108960"/>
            <a:ext cx="31363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4스테이지 전함 주포 광선. 예고선 진해진 뒤 휩쓸기</a:t>
            </a:r>
            <a:endParaRPr lang="en-US" sz="1100" dirty="0"/>
          </a:p>
        </p:txBody>
      </p:sp>
      <p:sp>
        <p:nvSpPr>
          <p:cNvPr id="6" name="Text 2"/>
          <p:cNvSpPr txBox="1"/>
          <p:nvPr/>
        </p:nvSpPr>
        <p:spPr>
          <a:xfrm>
            <a:off x="8503920" y="3794760"/>
            <a:ext cx="3136392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230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스테이지 하나 = 웨이브 3~4개 + 보스</a:t>
            </a:r>
            <a:endParaRPr lang="en-US" sz="13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230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보스는 체력 절반부터 빨라지고 졸개 부름</a:t>
            </a:r>
            <a:endParaRPr lang="en-US" sz="13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230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패턴 바뀔 때 화면 위에 예고 문구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78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맵 특성 → 기체 갈래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8872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6스테이지부터는 맵 특성 때문에 기체 하나만 키워서는 힘듦. 여러 갈래 기체를 같이 키우게 만드는 장치</a:t>
            </a:r>
            <a:endParaRPr lang="en-US" sz="1400" dirty="0"/>
          </a:p>
        </p:txBody>
      </p:sp>
      <p:sp>
        <p:nvSpPr>
          <p:cNvPr id="4" name="모래폭풍"/>
          <p:cNvSpPr/>
          <p:nvPr/>
        </p:nvSpPr>
        <p:spPr>
          <a:xfrm>
            <a:off x="548640" y="1783080"/>
            <a:ext cx="2036003" cy="4389120"/>
          </a:xfrm>
          <a:prstGeom prst="roundRect">
            <a:avLst>
              <a:gd name="adj" fmla="val 5389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1920240"/>
            <a:ext cx="1670243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 사막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2240280"/>
            <a:ext cx="167024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F31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모래폭풍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2788920"/>
            <a:ext cx="1670243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230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바람에 밀림. 가벼운 기체일수록 많이</a:t>
            </a:r>
            <a:endParaRPr lang="en-US" sz="1300" dirty="0"/>
          </a:p>
        </p:txBody>
      </p:sp>
      <p:pic>
        <p:nvPicPr>
          <p:cNvPr id="8" name="Image 0" descr="C:/Project/RatPlain/art/sprites/player_fort_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3820907"/>
            <a:ext cx="1304483" cy="1319307"/>
          </a:xfrm>
          <a:prstGeom prst="rect">
            <a:avLst/>
          </a:prstGeom>
        </p:spPr>
      </p:pic>
      <p:sp>
        <p:nvSpPr>
          <p:cNvPr id="9" name="유리 모래폭풍"/>
          <p:cNvSpPr/>
          <p:nvPr/>
        </p:nvSpPr>
        <p:spPr>
          <a:xfrm>
            <a:off x="731520" y="5440680"/>
            <a:ext cx="1670243" cy="457200"/>
          </a:xfrm>
          <a:prstGeom prst="roundRect">
            <a:avLst>
              <a:gd name="adj" fmla="val 50000"/>
            </a:avLst>
          </a:prstGeom>
          <a:solidFill>
            <a:srgbClr val="E0533A"/>
          </a:solidFill>
          <a:ln w="12700">
            <a:solidFill>
              <a:srgbClr val="E0533A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31520" y="5440680"/>
            <a:ext cx="167024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폭격기 유리</a:t>
            </a:r>
            <a:endParaRPr lang="en-US" sz="1400" dirty="0"/>
          </a:p>
        </p:txBody>
      </p:sp>
      <p:sp>
        <p:nvSpPr>
          <p:cNvPr id="11" name="분화"/>
          <p:cNvSpPr/>
          <p:nvPr/>
        </p:nvSpPr>
        <p:spPr>
          <a:xfrm>
            <a:off x="2813243" y="1783080"/>
            <a:ext cx="2036003" cy="4389120"/>
          </a:xfrm>
          <a:prstGeom prst="roundRect">
            <a:avLst>
              <a:gd name="adj" fmla="val 5389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2996123" y="1920240"/>
            <a:ext cx="1670243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 화산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2996123" y="2240280"/>
            <a:ext cx="167024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F31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분화</a:t>
            </a:r>
            <a:endParaRPr lang="en-US" sz="2000" dirty="0"/>
          </a:p>
        </p:txBody>
      </p:sp>
      <p:sp>
        <p:nvSpPr>
          <p:cNvPr id="14" name="Text 11"/>
          <p:cNvSpPr txBox="1"/>
          <p:nvPr/>
        </p:nvSpPr>
        <p:spPr>
          <a:xfrm>
            <a:off x="2996123" y="2788920"/>
            <a:ext cx="1670243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230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빨간 원 진해지면 용암이 솟음</a:t>
            </a:r>
            <a:endParaRPr lang="en-US" sz="1300" dirty="0"/>
          </a:p>
        </p:txBody>
      </p:sp>
      <p:pic>
        <p:nvPicPr>
          <p:cNvPr id="15" name="Image 1" descr="C:/Project/RatPlain/art/sprites/player_jet_0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79003" y="3864698"/>
            <a:ext cx="1304483" cy="1231723"/>
          </a:xfrm>
          <a:prstGeom prst="rect">
            <a:avLst/>
          </a:prstGeom>
        </p:spPr>
      </p:pic>
      <p:sp>
        <p:nvSpPr>
          <p:cNvPr id="16" name="유리 분화"/>
          <p:cNvSpPr/>
          <p:nvPr/>
        </p:nvSpPr>
        <p:spPr>
          <a:xfrm>
            <a:off x="2996123" y="5440680"/>
            <a:ext cx="1670243" cy="457200"/>
          </a:xfrm>
          <a:prstGeom prst="roundRect">
            <a:avLst>
              <a:gd name="adj" fmla="val 50000"/>
            </a:avLst>
          </a:prstGeom>
          <a:solidFill>
            <a:srgbClr val="5B9FCF"/>
          </a:solidFill>
          <a:ln w="12700">
            <a:solidFill>
              <a:srgbClr val="5B9FCF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2996123" y="5440680"/>
            <a:ext cx="167024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전투기 유리</a:t>
            </a:r>
            <a:endParaRPr lang="en-US" sz="1400" dirty="0"/>
          </a:p>
        </p:txBody>
      </p:sp>
      <p:sp>
        <p:nvSpPr>
          <p:cNvPr id="18" name="안개"/>
          <p:cNvSpPr/>
          <p:nvPr/>
        </p:nvSpPr>
        <p:spPr>
          <a:xfrm>
            <a:off x="5077846" y="1783080"/>
            <a:ext cx="2036003" cy="4389120"/>
          </a:xfrm>
          <a:prstGeom prst="roundRect">
            <a:avLst>
              <a:gd name="adj" fmla="val 5389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5260726" y="1920240"/>
            <a:ext cx="1670243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 밀림</a:t>
            </a:r>
            <a:endParaRPr lang="en-US" sz="1200" dirty="0"/>
          </a:p>
        </p:txBody>
      </p:sp>
      <p:sp>
        <p:nvSpPr>
          <p:cNvPr id="20" name="Text 16"/>
          <p:cNvSpPr txBox="1"/>
          <p:nvPr/>
        </p:nvSpPr>
        <p:spPr>
          <a:xfrm>
            <a:off x="5260726" y="2240280"/>
            <a:ext cx="167024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F31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안개</a:t>
            </a:r>
            <a:endParaRPr lang="en-US" sz="2000" dirty="0"/>
          </a:p>
        </p:txBody>
      </p:sp>
      <p:sp>
        <p:nvSpPr>
          <p:cNvPr id="21" name="Text 17"/>
          <p:cNvSpPr txBox="1"/>
          <p:nvPr/>
        </p:nvSpPr>
        <p:spPr>
          <a:xfrm>
            <a:off x="5260726" y="2788920"/>
            <a:ext cx="1670243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230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시야 밖은 안 보임. 레이더가 넓혀 줌</a:t>
            </a:r>
            <a:endParaRPr lang="en-US" sz="1300" dirty="0"/>
          </a:p>
        </p:txBody>
      </p:sp>
      <p:pic>
        <p:nvPicPr>
          <p:cNvPr id="22" name="Image 2" descr="C:/Project/RatPlain/art/sprites/player_drone_0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43606" y="3832638"/>
            <a:ext cx="1304483" cy="1295844"/>
          </a:xfrm>
          <a:prstGeom prst="rect">
            <a:avLst/>
          </a:prstGeom>
        </p:spPr>
      </p:pic>
      <p:sp>
        <p:nvSpPr>
          <p:cNvPr id="23" name="유리 안개"/>
          <p:cNvSpPr/>
          <p:nvPr/>
        </p:nvSpPr>
        <p:spPr>
          <a:xfrm>
            <a:off x="5260726" y="5440680"/>
            <a:ext cx="1670243" cy="457200"/>
          </a:xfrm>
          <a:prstGeom prst="roundRect">
            <a:avLst>
              <a:gd name="adj" fmla="val 50000"/>
            </a:avLst>
          </a:prstGeom>
          <a:solidFill>
            <a:srgbClr val="F5B82E"/>
          </a:solidFill>
          <a:ln w="12700">
            <a:solidFill>
              <a:srgbClr val="F5B82E"/>
            </a:solidFill>
            <a:prstDash val="solid"/>
          </a:ln>
        </p:spPr>
      </p:sp>
      <p:sp>
        <p:nvSpPr>
          <p:cNvPr id="24" name="Text 19"/>
          <p:cNvSpPr txBox="1"/>
          <p:nvPr/>
        </p:nvSpPr>
        <p:spPr>
          <a:xfrm>
            <a:off x="5260726" y="5440680"/>
            <a:ext cx="167024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다목적기 유리</a:t>
            </a:r>
            <a:endParaRPr lang="en-US" sz="1400" dirty="0"/>
          </a:p>
        </p:txBody>
      </p:sp>
      <p:sp>
        <p:nvSpPr>
          <p:cNvPr id="25" name="대공포"/>
          <p:cNvSpPr/>
          <p:nvPr/>
        </p:nvSpPr>
        <p:spPr>
          <a:xfrm>
            <a:off x="7342449" y="1783080"/>
            <a:ext cx="2036003" cy="4389120"/>
          </a:xfrm>
          <a:prstGeom prst="roundRect">
            <a:avLst>
              <a:gd name="adj" fmla="val 5389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26" name="Text 21"/>
          <p:cNvSpPr txBox="1"/>
          <p:nvPr/>
        </p:nvSpPr>
        <p:spPr>
          <a:xfrm>
            <a:off x="7525329" y="1920240"/>
            <a:ext cx="1670243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 요새</a:t>
            </a:r>
            <a:endParaRPr lang="en-US" sz="1200" dirty="0"/>
          </a:p>
        </p:txBody>
      </p:sp>
      <p:sp>
        <p:nvSpPr>
          <p:cNvPr id="27" name="Text 22"/>
          <p:cNvSpPr txBox="1"/>
          <p:nvPr/>
        </p:nvSpPr>
        <p:spPr>
          <a:xfrm>
            <a:off x="7525329" y="2240280"/>
            <a:ext cx="167024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F31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대공포</a:t>
            </a:r>
            <a:endParaRPr lang="en-US" sz="2000" dirty="0"/>
          </a:p>
        </p:txBody>
      </p:sp>
      <p:sp>
        <p:nvSpPr>
          <p:cNvPr id="28" name="Text 23"/>
          <p:cNvSpPr txBox="1"/>
          <p:nvPr/>
        </p:nvSpPr>
        <p:spPr>
          <a:xfrm>
            <a:off x="7525329" y="2788920"/>
            <a:ext cx="1670243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230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대공포 계속 쏘고 장갑 포함 많음</a:t>
            </a:r>
            <a:endParaRPr lang="en-US" sz="1300" dirty="0"/>
          </a:p>
        </p:txBody>
      </p:sp>
      <p:pic>
        <p:nvPicPr>
          <p:cNvPr id="29" name="Image 3" descr="C:/Project/RatPlain/art/sprites/player_flywing_0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23912" y="3749040"/>
            <a:ext cx="1273078" cy="1463040"/>
          </a:xfrm>
          <a:prstGeom prst="rect">
            <a:avLst/>
          </a:prstGeom>
        </p:spPr>
      </p:pic>
      <p:sp>
        <p:nvSpPr>
          <p:cNvPr id="30" name="유리 대공포"/>
          <p:cNvSpPr/>
          <p:nvPr/>
        </p:nvSpPr>
        <p:spPr>
          <a:xfrm>
            <a:off x="7525329" y="5440680"/>
            <a:ext cx="1670243" cy="457200"/>
          </a:xfrm>
          <a:prstGeom prst="roundRect">
            <a:avLst>
              <a:gd name="adj" fmla="val 50000"/>
            </a:avLst>
          </a:prstGeom>
          <a:solidFill>
            <a:srgbClr val="E0533A"/>
          </a:solidFill>
          <a:ln w="12700">
            <a:solidFill>
              <a:srgbClr val="E0533A"/>
            </a:solidFill>
            <a:prstDash val="solid"/>
          </a:ln>
        </p:spPr>
      </p:sp>
      <p:sp>
        <p:nvSpPr>
          <p:cNvPr id="31" name="Text 25"/>
          <p:cNvSpPr txBox="1"/>
          <p:nvPr/>
        </p:nvSpPr>
        <p:spPr>
          <a:xfrm>
            <a:off x="7525329" y="5440680"/>
            <a:ext cx="167024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폭격기 유리</a:t>
            </a:r>
            <a:endParaRPr lang="en-US" sz="1400" dirty="0"/>
          </a:p>
        </p:txBody>
      </p:sp>
      <p:sp>
        <p:nvSpPr>
          <p:cNvPr id="32" name="무중력"/>
          <p:cNvSpPr/>
          <p:nvPr/>
        </p:nvSpPr>
        <p:spPr>
          <a:xfrm>
            <a:off x="9607052" y="1783080"/>
            <a:ext cx="2036003" cy="4389120"/>
          </a:xfrm>
          <a:prstGeom prst="roundRect">
            <a:avLst>
              <a:gd name="adj" fmla="val 5389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33" name="Text 27"/>
          <p:cNvSpPr txBox="1"/>
          <p:nvPr/>
        </p:nvSpPr>
        <p:spPr>
          <a:xfrm>
            <a:off x="9789932" y="1920240"/>
            <a:ext cx="1670243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 달</a:t>
            </a:r>
            <a:endParaRPr lang="en-US" sz="1200" dirty="0"/>
          </a:p>
        </p:txBody>
      </p:sp>
      <p:sp>
        <p:nvSpPr>
          <p:cNvPr id="34" name="Text 28"/>
          <p:cNvSpPr txBox="1"/>
          <p:nvPr/>
        </p:nvSpPr>
        <p:spPr>
          <a:xfrm>
            <a:off x="9789932" y="2240280"/>
            <a:ext cx="167024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F31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무중력</a:t>
            </a:r>
            <a:endParaRPr lang="en-US" sz="2000" dirty="0"/>
          </a:p>
        </p:txBody>
      </p:sp>
      <p:sp>
        <p:nvSpPr>
          <p:cNvPr id="35" name="Text 29"/>
          <p:cNvSpPr txBox="1"/>
          <p:nvPr/>
        </p:nvSpPr>
        <p:spPr>
          <a:xfrm>
            <a:off x="9789932" y="2788920"/>
            <a:ext cx="1670243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230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관성 때문에 미끄러지고 유성 날아옴</a:t>
            </a:r>
            <a:endParaRPr lang="en-US" sz="1300" dirty="0"/>
          </a:p>
        </p:txBody>
      </p:sp>
      <p:pic>
        <p:nvPicPr>
          <p:cNvPr id="36" name="Image 4" descr="C:/Project/RatPlain/art/sprites/player_orbiter_0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972812" y="3858555"/>
            <a:ext cx="1304483" cy="1244010"/>
          </a:xfrm>
          <a:prstGeom prst="rect">
            <a:avLst/>
          </a:prstGeom>
        </p:spPr>
      </p:pic>
      <p:sp>
        <p:nvSpPr>
          <p:cNvPr id="37" name="유리 무중력"/>
          <p:cNvSpPr/>
          <p:nvPr/>
        </p:nvSpPr>
        <p:spPr>
          <a:xfrm>
            <a:off x="9789932" y="5440680"/>
            <a:ext cx="1670243" cy="457200"/>
          </a:xfrm>
          <a:prstGeom prst="roundRect">
            <a:avLst>
              <a:gd name="adj" fmla="val 50000"/>
            </a:avLst>
          </a:prstGeom>
          <a:solidFill>
            <a:srgbClr val="1F3147"/>
          </a:solidFill>
          <a:ln w="12700">
            <a:solidFill>
              <a:srgbClr val="1F3147"/>
            </a:solidFill>
            <a:prstDash val="solid"/>
          </a:ln>
        </p:spPr>
      </p:sp>
      <p:sp>
        <p:nvSpPr>
          <p:cNvPr id="38" name="Text 31"/>
          <p:cNvSpPr txBox="1"/>
          <p:nvPr/>
        </p:nvSpPr>
        <p:spPr>
          <a:xfrm>
            <a:off x="9789932" y="5440680"/>
            <a:ext cx="167024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5단계 유리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78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현장 개조 (로그라이트, 새로 넣을 것)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23444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웨이브 하나 깰 때마다 과학자 쥐가 무전으로 개조 키트 3개를 보내 줌 → 1개 고름. 판 끝나면 사라짐</a:t>
            </a:r>
            <a:endParaRPr lang="en-US" sz="1600" dirty="0"/>
          </a:p>
        </p:txBody>
      </p:sp>
      <p:pic>
        <p:nvPicPr>
          <p:cNvPr id="4" name="Image 0" descr="C:/Project/RatPlain/art/sprites/scientist_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46837" y="1097280"/>
            <a:ext cx="1337526" cy="19202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8778240" y="306324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F5B8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"이거 한번 달아 봐!"</a:t>
            </a:r>
            <a:endParaRPr lang="en-US" sz="1300" dirty="0"/>
          </a:p>
        </p:txBody>
      </p:sp>
      <p:sp>
        <p:nvSpPr>
          <p:cNvPr id="6" name="키트 1"/>
          <p:cNvSpPr/>
          <p:nvPr/>
        </p:nvSpPr>
        <p:spPr>
          <a:xfrm>
            <a:off x="548640" y="2194560"/>
            <a:ext cx="2651760" cy="393192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종류 화력"/>
          <p:cNvSpPr/>
          <p:nvPr/>
        </p:nvSpPr>
        <p:spPr>
          <a:xfrm>
            <a:off x="777240" y="2468880"/>
            <a:ext cx="1005840" cy="384048"/>
          </a:xfrm>
          <a:prstGeom prst="roundRect">
            <a:avLst>
              <a:gd name="adj" fmla="val 47619"/>
            </a:avLst>
          </a:prstGeom>
          <a:solidFill>
            <a:srgbClr val="E0533A"/>
          </a:solidFill>
          <a:ln w="12700">
            <a:solidFill>
              <a:srgbClr val="E0533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77240" y="2468880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화력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777240" y="3108960"/>
            <a:ext cx="2194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F31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탄 2갈래 추가</a:t>
            </a:r>
            <a:endParaRPr lang="en-US" sz="2000" dirty="0"/>
          </a:p>
        </p:txBody>
      </p:sp>
      <p:sp>
        <p:nvSpPr>
          <p:cNvPr id="10" name="Text 7"/>
          <p:cNvSpPr txBox="1"/>
          <p:nvPr/>
        </p:nvSpPr>
        <p:spPr>
          <a:xfrm>
            <a:off x="777240" y="4023360"/>
            <a:ext cx="21945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230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주무장이 양옆으로 한 발씩 더 나감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777240" y="557784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/ 3</a:t>
            </a:r>
            <a:endParaRPr lang="en-US" sz="1100" dirty="0"/>
          </a:p>
        </p:txBody>
      </p:sp>
      <p:sp>
        <p:nvSpPr>
          <p:cNvPr id="12" name="키트 2"/>
          <p:cNvSpPr/>
          <p:nvPr/>
        </p:nvSpPr>
        <p:spPr>
          <a:xfrm>
            <a:off x="3520440" y="2194560"/>
            <a:ext cx="2651760" cy="393192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종류 기동"/>
          <p:cNvSpPr/>
          <p:nvPr/>
        </p:nvSpPr>
        <p:spPr>
          <a:xfrm>
            <a:off x="3749040" y="2468880"/>
            <a:ext cx="1005840" cy="384048"/>
          </a:xfrm>
          <a:prstGeom prst="roundRect">
            <a:avLst>
              <a:gd name="adj" fmla="val 47619"/>
            </a:avLst>
          </a:prstGeom>
          <a:solidFill>
            <a:srgbClr val="5B9FCF"/>
          </a:solidFill>
          <a:ln w="12700">
            <a:solidFill>
              <a:srgbClr val="5B9FC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3749040" y="2468880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기동</a:t>
            </a:r>
            <a:endParaRPr lang="en-US" sz="1300" dirty="0"/>
          </a:p>
        </p:txBody>
      </p:sp>
      <p:sp>
        <p:nvSpPr>
          <p:cNvPr id="15" name="Text 12"/>
          <p:cNvSpPr txBox="1"/>
          <p:nvPr/>
        </p:nvSpPr>
        <p:spPr>
          <a:xfrm>
            <a:off x="3749040" y="3108960"/>
            <a:ext cx="2194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F31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부스트 무적</a:t>
            </a:r>
            <a:endParaRPr lang="en-US" sz="2000" dirty="0"/>
          </a:p>
        </p:txBody>
      </p:sp>
      <p:sp>
        <p:nvSpPr>
          <p:cNvPr id="16" name="Text 13"/>
          <p:cNvSpPr txBox="1"/>
          <p:nvPr/>
        </p:nvSpPr>
        <p:spPr>
          <a:xfrm>
            <a:off x="3749040" y="4023360"/>
            <a:ext cx="21945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230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부스트 켜는 순간 0.5초 무적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3749040" y="557784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/ 3</a:t>
            </a:r>
            <a:endParaRPr lang="en-US" sz="1100" dirty="0"/>
          </a:p>
        </p:txBody>
      </p:sp>
      <p:sp>
        <p:nvSpPr>
          <p:cNvPr id="18" name="키트 3"/>
          <p:cNvSpPr/>
          <p:nvPr/>
        </p:nvSpPr>
        <p:spPr>
          <a:xfrm>
            <a:off x="6492240" y="2194560"/>
            <a:ext cx="2651760" cy="393192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종류 특수"/>
          <p:cNvSpPr/>
          <p:nvPr/>
        </p:nvSpPr>
        <p:spPr>
          <a:xfrm>
            <a:off x="6720840" y="2468880"/>
            <a:ext cx="1005840" cy="384048"/>
          </a:xfrm>
          <a:prstGeom prst="roundRect">
            <a:avLst>
              <a:gd name="adj" fmla="val 47619"/>
            </a:avLst>
          </a:prstGeom>
          <a:solidFill>
            <a:srgbClr val="F5B82E"/>
          </a:solidFill>
          <a:ln w="12700">
            <a:solidFill>
              <a:srgbClr val="F5B82E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6720840" y="2468880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특수</a:t>
            </a:r>
            <a:endParaRPr lang="en-US" sz="1300" dirty="0"/>
          </a:p>
        </p:txBody>
      </p:sp>
      <p:sp>
        <p:nvSpPr>
          <p:cNvPr id="21" name="Text 18"/>
          <p:cNvSpPr txBox="1"/>
          <p:nvPr/>
        </p:nvSpPr>
        <p:spPr>
          <a:xfrm>
            <a:off x="6720840" y="3108960"/>
            <a:ext cx="2194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F31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처치 시 폭발</a:t>
            </a:r>
            <a:endParaRPr lang="en-US" sz="2000" dirty="0"/>
          </a:p>
        </p:txBody>
      </p:sp>
      <p:sp>
        <p:nvSpPr>
          <p:cNvPr id="22" name="Text 19"/>
          <p:cNvSpPr txBox="1"/>
          <p:nvPr/>
        </p:nvSpPr>
        <p:spPr>
          <a:xfrm>
            <a:off x="6720840" y="4023360"/>
            <a:ext cx="21945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230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적을 잡으면 그 자리에서 작게 터짐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6720840" y="557784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/ 3</a:t>
            </a:r>
            <a:endParaRPr lang="en-US" sz="1100" dirty="0"/>
          </a:p>
        </p:txBody>
      </p:sp>
      <p:sp>
        <p:nvSpPr>
          <p:cNvPr id="24" name="Text 21"/>
          <p:cNvSpPr txBox="1"/>
          <p:nvPr/>
        </p:nvSpPr>
        <p:spPr>
          <a:xfrm>
            <a:off x="9144000" y="576072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B8C4D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선택 화면 예시 (그림은 목업)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현장 개조 규칙</a:t>
            </a:r>
            <a:endParaRPr lang="en-US" sz="3000" dirty="0"/>
          </a:p>
        </p:txBody>
      </p:sp>
      <p:sp>
        <p:nvSpPr>
          <p:cNvPr id="3" name="종류 화력"/>
          <p:cNvSpPr/>
          <p:nvPr/>
        </p:nvSpPr>
        <p:spPr>
          <a:xfrm>
            <a:off x="548640" y="1371600"/>
            <a:ext cx="4937760" cy="1005840"/>
          </a:xfrm>
          <a:prstGeom prst="roundRect">
            <a:avLst>
              <a:gd name="adj" fmla="val 10909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4" name="점 화력"/>
          <p:cNvSpPr/>
          <p:nvPr/>
        </p:nvSpPr>
        <p:spPr>
          <a:xfrm>
            <a:off x="777240" y="1554480"/>
            <a:ext cx="640080" cy="640080"/>
          </a:xfrm>
          <a:prstGeom prst="ellipse">
            <a:avLst/>
          </a:prstGeom>
          <a:solidFill>
            <a:srgbClr val="E0533A"/>
          </a:solidFill>
          <a:ln w="12700">
            <a:solidFill>
              <a:srgbClr val="E0533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15544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화력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645920" y="1371600"/>
            <a:ext cx="3657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30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탄 추가, 확산, 관통, 연사</a:t>
            </a:r>
            <a:endParaRPr lang="en-US" sz="1400" dirty="0"/>
          </a:p>
        </p:txBody>
      </p:sp>
      <p:sp>
        <p:nvSpPr>
          <p:cNvPr id="7" name="종류 기동"/>
          <p:cNvSpPr/>
          <p:nvPr/>
        </p:nvSpPr>
        <p:spPr>
          <a:xfrm>
            <a:off x="548640" y="2560320"/>
            <a:ext cx="4937760" cy="1005840"/>
          </a:xfrm>
          <a:prstGeom prst="roundRect">
            <a:avLst>
              <a:gd name="adj" fmla="val 10909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8" name="점 기동"/>
          <p:cNvSpPr/>
          <p:nvPr/>
        </p:nvSpPr>
        <p:spPr>
          <a:xfrm>
            <a:off x="777240" y="2743200"/>
            <a:ext cx="640080" cy="640080"/>
          </a:xfrm>
          <a:prstGeom prst="ellipse">
            <a:avLst/>
          </a:prstGeom>
          <a:solidFill>
            <a:srgbClr val="5B9FCF"/>
          </a:solidFill>
          <a:ln w="12700">
            <a:solidFill>
              <a:srgbClr val="5B9FC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77240" y="27432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기동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1645920" y="2560320"/>
            <a:ext cx="3657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30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선회, 부스트 길이, 부스트 무적</a:t>
            </a:r>
            <a:endParaRPr lang="en-US" sz="1400" dirty="0"/>
          </a:p>
        </p:txBody>
      </p:sp>
      <p:sp>
        <p:nvSpPr>
          <p:cNvPr id="11" name="종류 생존"/>
          <p:cNvSpPr/>
          <p:nvPr/>
        </p:nvSpPr>
        <p:spPr>
          <a:xfrm>
            <a:off x="548640" y="3749040"/>
            <a:ext cx="4937760" cy="1005840"/>
          </a:xfrm>
          <a:prstGeom prst="roundRect">
            <a:avLst>
              <a:gd name="adj" fmla="val 10909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12" name="점 생존"/>
          <p:cNvSpPr/>
          <p:nvPr/>
        </p:nvSpPr>
        <p:spPr>
          <a:xfrm>
            <a:off x="777240" y="3931920"/>
            <a:ext cx="640080" cy="640080"/>
          </a:xfrm>
          <a:prstGeom prst="ellipse">
            <a:avLst/>
          </a:prstGeom>
          <a:solidFill>
            <a:srgbClr val="7FD88A"/>
          </a:solidFill>
          <a:ln w="12700">
            <a:solidFill>
              <a:srgbClr val="7FD88A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77240" y="39319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생존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1645920" y="3749040"/>
            <a:ext cx="3657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30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최대 체력, 회복 속도, 쏘면서도 조금 회복</a:t>
            </a:r>
            <a:endParaRPr lang="en-US" sz="1400" dirty="0"/>
          </a:p>
        </p:txBody>
      </p:sp>
      <p:sp>
        <p:nvSpPr>
          <p:cNvPr id="15" name="종류 특수"/>
          <p:cNvSpPr/>
          <p:nvPr/>
        </p:nvSpPr>
        <p:spPr>
          <a:xfrm>
            <a:off x="548640" y="4937760"/>
            <a:ext cx="4937760" cy="1005840"/>
          </a:xfrm>
          <a:prstGeom prst="roundRect">
            <a:avLst>
              <a:gd name="adj" fmla="val 10909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16" name="점 특수"/>
          <p:cNvSpPr/>
          <p:nvPr/>
        </p:nvSpPr>
        <p:spPr>
          <a:xfrm>
            <a:off x="777240" y="5120640"/>
            <a:ext cx="640080" cy="640080"/>
          </a:xfrm>
          <a:prstGeom prst="ellipse">
            <a:avLst/>
          </a:prstGeom>
          <a:solidFill>
            <a:srgbClr val="F5B82E"/>
          </a:solidFill>
          <a:ln w="12700">
            <a:solidFill>
              <a:srgbClr val="F5B82E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77240" y="5120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특수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1645920" y="4937760"/>
            <a:ext cx="3657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30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처치 시 폭발, 유도탄, 호위 무인기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6035040" y="1371600"/>
            <a:ext cx="5608015" cy="4754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400"/>
              </a:spcAft>
              <a:buSzPct val="100000"/>
              <a:buChar char="•"/>
            </a:pPr>
            <a:r>
              <a:rPr lang="en-US" sz="1500" dirty="0">
                <a:solidFill>
                  <a:srgbClr val="2230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종류 3개 모으면 완성 개조가 뜸 (예: 화력 3개 → 8방향 동시 사격)</a:t>
            </a:r>
            <a:endParaRPr lang="en-US" sz="1500" dirty="0"/>
          </a:p>
          <a:p>
            <a:pPr marL="177800" indent="-177800">
              <a:spcAft>
                <a:spcPts val="1400"/>
              </a:spcAft>
              <a:buSzPct val="100000"/>
              <a:buChar char="•"/>
            </a:pPr>
            <a:r>
              <a:rPr lang="en-US" sz="1500" dirty="0">
                <a:solidFill>
                  <a:srgbClr val="2230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끼고 있는 장비 부위(폭탄창, 무인기 등)에 맞는 키트가 더 잘 나옴 → 판 밖 빌드가 판 안 빌드 방향을 잡아 줌</a:t>
            </a:r>
            <a:endParaRPr lang="en-US" sz="1500" dirty="0"/>
          </a:p>
          <a:p>
            <a:pPr marL="177800" indent="-177800">
              <a:spcAft>
                <a:spcPts val="1400"/>
              </a:spcAft>
              <a:buSzPct val="100000"/>
              <a:buChar char="•"/>
            </a:pPr>
            <a:r>
              <a:rPr lang="en-US" sz="1500" dirty="0">
                <a:solidFill>
                  <a:srgbClr val="2230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보스 직전에 정비소: 체력 50% 회복 / 좋은 키트 1개 중 고름</a:t>
            </a:r>
            <a:endParaRPr lang="en-US" sz="1500" dirty="0"/>
          </a:p>
          <a:p>
            <a:pPr marL="177800" indent="-177800">
              <a:spcAft>
                <a:spcPts val="1400"/>
              </a:spcAft>
              <a:buSzPct val="100000"/>
              <a:buChar char="•"/>
            </a:pPr>
            <a:r>
              <a:rPr lang="en-US" sz="1500" dirty="0">
                <a:solidFill>
                  <a:srgbClr val="2230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깬 스테이지 다시 갈 때 난기류(적 체력↑, 탄속↑, 회복↓) 켜면 보상 배율 올라감 → 잘하는 유저 반복 플레이용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78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기체 테크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8872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 비행기 발전 순서대로 6단계 × 3갈래 = 16대. 앞 단계 기체가 있어야 다음 기체를 삼. 테크 = 가진 기체 중 제일 높은 단계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9164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0단계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2514600" y="1691640"/>
            <a:ext cx="15361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1단계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4050792" y="1691640"/>
            <a:ext cx="15361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2단계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5586984" y="1691640"/>
            <a:ext cx="15361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3단계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7123176" y="1691640"/>
            <a:ext cx="15361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4단계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8659368" y="1691640"/>
            <a:ext cx="15361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5단계</a:t>
            </a:r>
            <a:endParaRPr lang="en-US" sz="1200" dirty="0"/>
          </a:p>
        </p:txBody>
      </p:sp>
      <p:sp>
        <p:nvSpPr>
          <p:cNvPr id="10" name="시작 기체"/>
          <p:cNvSpPr/>
          <p:nvPr/>
        </p:nvSpPr>
        <p:spPr>
          <a:xfrm>
            <a:off x="548640" y="3246120"/>
            <a:ext cx="1737360" cy="1508760"/>
          </a:xfrm>
          <a:prstGeom prst="roundRect">
            <a:avLst>
              <a:gd name="adj" fmla="val 7273"/>
            </a:avLst>
          </a:prstGeom>
          <a:solidFill>
            <a:srgbClr val="FDF1D6"/>
          </a:solidFill>
          <a:ln w="12700">
            <a:solidFill>
              <a:srgbClr val="FDF1D6"/>
            </a:solidFill>
            <a:prstDash val="solid"/>
          </a:ln>
        </p:spPr>
      </p:sp>
      <p:pic>
        <p:nvPicPr>
          <p:cNvPr id="11" name="Image 0" descr="C:/Project/RatPlain/art/sprites/player_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2798" y="3337560"/>
            <a:ext cx="829044" cy="868680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548640" y="4206240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230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복엽 글라이더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2230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쥐돌이 1호</a:t>
            </a:r>
            <a:endParaRPr lang="en-US" sz="1100" dirty="0"/>
          </a:p>
        </p:txBody>
      </p:sp>
      <p:sp>
        <p:nvSpPr>
          <p:cNvPr id="13" name="줄 전투기"/>
          <p:cNvSpPr/>
          <p:nvPr/>
        </p:nvSpPr>
        <p:spPr>
          <a:xfrm>
            <a:off x="2423160" y="2057400"/>
            <a:ext cx="7772400" cy="1188720"/>
          </a:xfrm>
          <a:prstGeom prst="roundRect">
            <a:avLst>
              <a:gd name="adj" fmla="val 7692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pic>
        <p:nvPicPr>
          <p:cNvPr id="14" name="Image 1" descr="C:/Project/RatPlain/art/sprites/player_mono_0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05045" y="2148840"/>
            <a:ext cx="755302" cy="777240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2514600" y="2926080"/>
            <a:ext cx="15361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230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단엽 전투기</a:t>
            </a:r>
            <a:endParaRPr lang="en-US" sz="1100" dirty="0"/>
          </a:p>
        </p:txBody>
      </p:sp>
      <p:pic>
        <p:nvPicPr>
          <p:cNvPr id="16" name="Image 2" descr="C:/Project/RatPlain/art/sprites/player_jet_0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07312" y="2148840"/>
            <a:ext cx="823153" cy="777240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4050792" y="2926080"/>
            <a:ext cx="15361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230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후퇴익 제트기</a:t>
            </a:r>
            <a:endParaRPr lang="en-US" sz="1100" dirty="0"/>
          </a:p>
        </p:txBody>
      </p:sp>
      <p:pic>
        <p:nvPicPr>
          <p:cNvPr id="18" name="Image 3" descr="C:/Project/RatPlain/art/sprites/player_super_0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07024" y="2162151"/>
            <a:ext cx="896112" cy="750618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5586984" y="2926080"/>
            <a:ext cx="15361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230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초음속 델타익기</a:t>
            </a:r>
            <a:endParaRPr lang="en-US" sz="1100" dirty="0"/>
          </a:p>
        </p:txBody>
      </p:sp>
      <p:pic>
        <p:nvPicPr>
          <p:cNvPr id="20" name="Image 4" descr="C:/Project/RatPlain/art/sprites/player_stealth_0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80041" y="2148840"/>
            <a:ext cx="822461" cy="777240"/>
          </a:xfrm>
          <a:prstGeom prst="rect">
            <a:avLst/>
          </a:prstGeom>
        </p:spPr>
      </p:pic>
      <p:sp>
        <p:nvSpPr>
          <p:cNvPr id="21" name="Text 14"/>
          <p:cNvSpPr txBox="1"/>
          <p:nvPr/>
        </p:nvSpPr>
        <p:spPr>
          <a:xfrm>
            <a:off x="7123176" y="2926080"/>
            <a:ext cx="15361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230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스텔스 전투기</a:t>
            </a:r>
            <a:endParaRPr lang="en-US" sz="1100" dirty="0"/>
          </a:p>
        </p:txBody>
      </p:sp>
      <p:pic>
        <p:nvPicPr>
          <p:cNvPr id="22" name="Image 5" descr="C:/Project/RatPlain/art/sprites/player_orbiter_0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019953" y="2148840"/>
            <a:ext cx="815023" cy="777240"/>
          </a:xfrm>
          <a:prstGeom prst="rect">
            <a:avLst/>
          </a:prstGeom>
        </p:spPr>
      </p:pic>
      <p:sp>
        <p:nvSpPr>
          <p:cNvPr id="23" name="Text 15"/>
          <p:cNvSpPr txBox="1"/>
          <p:nvPr/>
        </p:nvSpPr>
        <p:spPr>
          <a:xfrm>
            <a:off x="8659368" y="2926080"/>
            <a:ext cx="15361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230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우주 요격기</a:t>
            </a:r>
            <a:endParaRPr lang="en-US" sz="1100" dirty="0"/>
          </a:p>
        </p:txBody>
      </p:sp>
      <p:sp>
        <p:nvSpPr>
          <p:cNvPr id="24" name="갈래 전투기"/>
          <p:cNvSpPr/>
          <p:nvPr/>
        </p:nvSpPr>
        <p:spPr>
          <a:xfrm>
            <a:off x="10332720" y="2423160"/>
            <a:ext cx="1097280" cy="457200"/>
          </a:xfrm>
          <a:prstGeom prst="roundRect">
            <a:avLst>
              <a:gd name="adj" fmla="val 50000"/>
            </a:avLst>
          </a:prstGeom>
          <a:solidFill>
            <a:srgbClr val="5B9FCF"/>
          </a:solidFill>
          <a:ln w="12700">
            <a:solidFill>
              <a:srgbClr val="5B9FCF"/>
            </a:solidFill>
            <a:prstDash val="solid"/>
          </a:ln>
        </p:spPr>
      </p:sp>
      <p:sp>
        <p:nvSpPr>
          <p:cNvPr id="25" name="Text 17"/>
          <p:cNvSpPr txBox="1"/>
          <p:nvPr/>
        </p:nvSpPr>
        <p:spPr>
          <a:xfrm>
            <a:off x="10332720" y="242316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전투기</a:t>
            </a:r>
            <a:endParaRPr lang="en-US" sz="1300" dirty="0"/>
          </a:p>
        </p:txBody>
      </p:sp>
      <p:sp>
        <p:nvSpPr>
          <p:cNvPr id="26" name="줄 다목적기"/>
          <p:cNvSpPr/>
          <p:nvPr/>
        </p:nvSpPr>
        <p:spPr>
          <a:xfrm>
            <a:off x="2423160" y="3383280"/>
            <a:ext cx="7772400" cy="1188720"/>
          </a:xfrm>
          <a:prstGeom prst="roundRect">
            <a:avLst>
              <a:gd name="adj" fmla="val 7692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pic>
        <p:nvPicPr>
          <p:cNvPr id="27" name="Image 6" descr="C:/Project/RatPlain/art/sprites/player_dive_0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891075" y="3474720"/>
            <a:ext cx="783242" cy="777240"/>
          </a:xfrm>
          <a:prstGeom prst="rect">
            <a:avLst/>
          </a:prstGeom>
        </p:spPr>
      </p:pic>
      <p:sp>
        <p:nvSpPr>
          <p:cNvPr id="28" name="Text 19"/>
          <p:cNvSpPr txBox="1"/>
          <p:nvPr/>
        </p:nvSpPr>
        <p:spPr>
          <a:xfrm>
            <a:off x="2514600" y="4251960"/>
            <a:ext cx="15361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230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급강하 폭격기</a:t>
            </a:r>
            <a:endParaRPr lang="en-US" sz="1100" dirty="0"/>
          </a:p>
        </p:txBody>
      </p:sp>
      <p:pic>
        <p:nvPicPr>
          <p:cNvPr id="29" name="Image 7" descr="C:/Project/RatPlain/art/sprites/player_fbomber_0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418447" y="3474720"/>
            <a:ext cx="800882" cy="777240"/>
          </a:xfrm>
          <a:prstGeom prst="rect">
            <a:avLst/>
          </a:prstGeom>
        </p:spPr>
      </p:pic>
      <p:sp>
        <p:nvSpPr>
          <p:cNvPr id="30" name="Text 20"/>
          <p:cNvSpPr txBox="1"/>
          <p:nvPr/>
        </p:nvSpPr>
        <p:spPr>
          <a:xfrm>
            <a:off x="4050792" y="4251960"/>
            <a:ext cx="15361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230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제트 전폭기</a:t>
            </a:r>
            <a:endParaRPr lang="en-US" sz="1100" dirty="0"/>
          </a:p>
        </p:txBody>
      </p:sp>
      <p:pic>
        <p:nvPicPr>
          <p:cNvPr id="31" name="Image 8" descr="C:/Project/RatPlain/art/sprites/player_swing_0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956915" y="3474720"/>
            <a:ext cx="796330" cy="777240"/>
          </a:xfrm>
          <a:prstGeom prst="rect">
            <a:avLst/>
          </a:prstGeom>
        </p:spPr>
      </p:pic>
      <p:sp>
        <p:nvSpPr>
          <p:cNvPr id="32" name="Text 21"/>
          <p:cNvSpPr txBox="1"/>
          <p:nvPr/>
        </p:nvSpPr>
        <p:spPr>
          <a:xfrm>
            <a:off x="5586984" y="4251960"/>
            <a:ext cx="15361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230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가변익 다목적기</a:t>
            </a:r>
            <a:endParaRPr lang="en-US" sz="1100" dirty="0"/>
          </a:p>
        </p:txBody>
      </p:sp>
      <p:pic>
        <p:nvPicPr>
          <p:cNvPr id="33" name="Image 9" descr="C:/Project/RatPlain/art/sprites/player_drone_0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500061" y="3474720"/>
            <a:ext cx="782422" cy="777240"/>
          </a:xfrm>
          <a:prstGeom prst="rect">
            <a:avLst/>
          </a:prstGeom>
        </p:spPr>
      </p:pic>
      <p:sp>
        <p:nvSpPr>
          <p:cNvPr id="34" name="Text 22"/>
          <p:cNvSpPr txBox="1"/>
          <p:nvPr/>
        </p:nvSpPr>
        <p:spPr>
          <a:xfrm>
            <a:off x="7123176" y="4251960"/>
            <a:ext cx="15361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230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무인기 지휘기</a:t>
            </a:r>
            <a:endParaRPr lang="en-US" sz="1100" dirty="0"/>
          </a:p>
        </p:txBody>
      </p:sp>
      <p:pic>
        <p:nvPicPr>
          <p:cNvPr id="35" name="Image 10" descr="C:/Project/RatPlain/art/sprites/player_shuttle_0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998917" y="3474720"/>
            <a:ext cx="857093" cy="777240"/>
          </a:xfrm>
          <a:prstGeom prst="rect">
            <a:avLst/>
          </a:prstGeom>
        </p:spPr>
      </p:pic>
      <p:sp>
        <p:nvSpPr>
          <p:cNvPr id="36" name="Text 23"/>
          <p:cNvSpPr txBox="1"/>
          <p:nvPr/>
        </p:nvSpPr>
        <p:spPr>
          <a:xfrm>
            <a:off x="8659368" y="4251960"/>
            <a:ext cx="15361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230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궤도 왕복 공격기</a:t>
            </a:r>
            <a:endParaRPr lang="en-US" sz="1100" dirty="0"/>
          </a:p>
        </p:txBody>
      </p:sp>
      <p:sp>
        <p:nvSpPr>
          <p:cNvPr id="37" name="갈래 다목적기"/>
          <p:cNvSpPr/>
          <p:nvPr/>
        </p:nvSpPr>
        <p:spPr>
          <a:xfrm>
            <a:off x="10332720" y="3749040"/>
            <a:ext cx="1097280" cy="457200"/>
          </a:xfrm>
          <a:prstGeom prst="roundRect">
            <a:avLst>
              <a:gd name="adj" fmla="val 50000"/>
            </a:avLst>
          </a:prstGeom>
          <a:solidFill>
            <a:srgbClr val="F5B82E"/>
          </a:solidFill>
          <a:ln w="12700">
            <a:solidFill>
              <a:srgbClr val="F5B82E"/>
            </a:solidFill>
            <a:prstDash val="solid"/>
          </a:ln>
        </p:spPr>
      </p:sp>
      <p:sp>
        <p:nvSpPr>
          <p:cNvPr id="38" name="Text 25"/>
          <p:cNvSpPr txBox="1"/>
          <p:nvPr/>
        </p:nvSpPr>
        <p:spPr>
          <a:xfrm>
            <a:off x="10332720" y="374904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다목적기</a:t>
            </a:r>
            <a:endParaRPr lang="en-US" sz="1300" dirty="0"/>
          </a:p>
        </p:txBody>
      </p:sp>
      <p:sp>
        <p:nvSpPr>
          <p:cNvPr id="39" name="줄 폭격기"/>
          <p:cNvSpPr/>
          <p:nvPr/>
        </p:nvSpPr>
        <p:spPr>
          <a:xfrm>
            <a:off x="2423160" y="4709160"/>
            <a:ext cx="7772400" cy="1188720"/>
          </a:xfrm>
          <a:prstGeom prst="roundRect">
            <a:avLst>
              <a:gd name="adj" fmla="val 7692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pic>
        <p:nvPicPr>
          <p:cNvPr id="40" name="Image 11" descr="C:/Project/RatPlain/art/sprites/player_heavy_0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945493" y="4800600"/>
            <a:ext cx="674405" cy="777240"/>
          </a:xfrm>
          <a:prstGeom prst="rect">
            <a:avLst/>
          </a:prstGeom>
        </p:spPr>
      </p:pic>
      <p:sp>
        <p:nvSpPr>
          <p:cNvPr id="41" name="Text 27"/>
          <p:cNvSpPr txBox="1"/>
          <p:nvPr/>
        </p:nvSpPr>
        <p:spPr>
          <a:xfrm>
            <a:off x="2514600" y="5577840"/>
            <a:ext cx="15361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230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쌍발 중전투기</a:t>
            </a:r>
            <a:endParaRPr lang="en-US" sz="1100" dirty="0"/>
          </a:p>
        </p:txBody>
      </p:sp>
      <p:pic>
        <p:nvPicPr>
          <p:cNvPr id="42" name="Image 12" descr="C:/Project/RatPlain/art/sprites/player_fort_0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434635" y="4800600"/>
            <a:ext cx="768507" cy="777240"/>
          </a:xfrm>
          <a:prstGeom prst="rect">
            <a:avLst/>
          </a:prstGeom>
        </p:spPr>
      </p:pic>
      <p:sp>
        <p:nvSpPr>
          <p:cNvPr id="43" name="Text 28"/>
          <p:cNvSpPr txBox="1"/>
          <p:nvPr/>
        </p:nvSpPr>
        <p:spPr>
          <a:xfrm>
            <a:off x="4050792" y="5577840"/>
            <a:ext cx="15361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230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4발 중폭격기</a:t>
            </a:r>
            <a:endParaRPr lang="en-US" sz="1100" dirty="0"/>
          </a:p>
        </p:txBody>
      </p:sp>
      <p:pic>
        <p:nvPicPr>
          <p:cNvPr id="44" name="Image 13" descr="C:/Project/RatPlain/art/sprites/player_flywing_0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016919" y="4800600"/>
            <a:ext cx="676323" cy="777240"/>
          </a:xfrm>
          <a:prstGeom prst="rect">
            <a:avLst/>
          </a:prstGeom>
        </p:spPr>
      </p:pic>
      <p:sp>
        <p:nvSpPr>
          <p:cNvPr id="45" name="Text 29"/>
          <p:cNvSpPr txBox="1"/>
          <p:nvPr/>
        </p:nvSpPr>
        <p:spPr>
          <a:xfrm>
            <a:off x="5586984" y="5577840"/>
            <a:ext cx="15361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230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전익 전략폭격기</a:t>
            </a:r>
            <a:endParaRPr lang="en-US" sz="1100" dirty="0"/>
          </a:p>
        </p:txBody>
      </p:sp>
      <p:pic>
        <p:nvPicPr>
          <p:cNvPr id="46" name="Image 14" descr="C:/Project/RatPlain/art/sprites/player_hyper_0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7487589" y="4800600"/>
            <a:ext cx="807366" cy="777240"/>
          </a:xfrm>
          <a:prstGeom prst="rect">
            <a:avLst/>
          </a:prstGeom>
        </p:spPr>
      </p:pic>
      <p:sp>
        <p:nvSpPr>
          <p:cNvPr id="47" name="Text 30"/>
          <p:cNvSpPr txBox="1"/>
          <p:nvPr/>
        </p:nvSpPr>
        <p:spPr>
          <a:xfrm>
            <a:off x="7123176" y="5577840"/>
            <a:ext cx="15361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230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극초음속 폭격기</a:t>
            </a:r>
            <a:endParaRPr lang="en-US" sz="1100" dirty="0"/>
          </a:p>
        </p:txBody>
      </p:sp>
      <p:pic>
        <p:nvPicPr>
          <p:cNvPr id="48" name="Image 15" descr="C:/Project/RatPlain/art/sprites/player_carrier_0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9015265" y="4800600"/>
            <a:ext cx="824398" cy="777240"/>
          </a:xfrm>
          <a:prstGeom prst="rect">
            <a:avLst/>
          </a:prstGeom>
        </p:spPr>
      </p:pic>
      <p:sp>
        <p:nvSpPr>
          <p:cNvPr id="49" name="Text 31"/>
          <p:cNvSpPr txBox="1"/>
          <p:nvPr/>
        </p:nvSpPr>
        <p:spPr>
          <a:xfrm>
            <a:off x="8659368" y="5577840"/>
            <a:ext cx="15361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230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공중 항공모함</a:t>
            </a:r>
            <a:endParaRPr lang="en-US" sz="1100" dirty="0"/>
          </a:p>
        </p:txBody>
      </p:sp>
      <p:sp>
        <p:nvSpPr>
          <p:cNvPr id="50" name="갈래 폭격기"/>
          <p:cNvSpPr/>
          <p:nvPr/>
        </p:nvSpPr>
        <p:spPr>
          <a:xfrm>
            <a:off x="10332720" y="5074920"/>
            <a:ext cx="1097280" cy="457200"/>
          </a:xfrm>
          <a:prstGeom prst="roundRect">
            <a:avLst>
              <a:gd name="adj" fmla="val 50000"/>
            </a:avLst>
          </a:prstGeom>
          <a:solidFill>
            <a:srgbClr val="E0533A"/>
          </a:solidFill>
          <a:ln w="12700">
            <a:solidFill>
              <a:srgbClr val="E0533A"/>
            </a:solidFill>
            <a:prstDash val="solid"/>
          </a:ln>
        </p:spPr>
      </p:sp>
      <p:sp>
        <p:nvSpPr>
          <p:cNvPr id="51" name="Text 33"/>
          <p:cNvSpPr txBox="1"/>
          <p:nvPr/>
        </p:nvSpPr>
        <p:spPr>
          <a:xfrm>
            <a:off x="10332720" y="507492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폭격기</a:t>
            </a:r>
            <a:endParaRPr lang="en-US" sz="1300" dirty="0"/>
          </a:p>
        </p:txBody>
      </p:sp>
      <p:sp>
        <p:nvSpPr>
          <p:cNvPr id="52" name="Text 34"/>
          <p:cNvSpPr txBox="1"/>
          <p:nvPr/>
        </p:nvSpPr>
        <p:spPr>
          <a:xfrm>
            <a:off x="548640" y="617220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테크 강화 시 파츠 장착 가능 부위가 늘어나고(3~7칸) 장착 가능한 티어가 확장. 기체마다 붙는 부위가 달라서 그게 기체 성격이 됨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78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장비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8872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장비 -&gt; 티어, 장착 가능 기체(갈래), 등급이 있음. 등급이 높을 경우 장비에 특별한 효과가 붙음(고유한)</a:t>
            </a:r>
            <a:endParaRPr lang="en-US" sz="1400" dirty="0"/>
          </a:p>
        </p:txBody>
      </p:sp>
      <p:sp>
        <p:nvSpPr>
          <p:cNvPr id="4" name="등급 일반"/>
          <p:cNvSpPr/>
          <p:nvPr/>
        </p:nvSpPr>
        <p:spPr>
          <a:xfrm>
            <a:off x="548640" y="1783080"/>
            <a:ext cx="2567864" cy="2651760"/>
          </a:xfrm>
          <a:prstGeom prst="roundRect">
            <a:avLst>
              <a:gd name="adj" fmla="val 4273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5" name="아이콘 테두리 일반"/>
          <p:cNvSpPr/>
          <p:nvPr/>
        </p:nvSpPr>
        <p:spPr>
          <a:xfrm>
            <a:off x="777240" y="2011680"/>
            <a:ext cx="868680" cy="868680"/>
          </a:xfrm>
          <a:prstGeom prst="ellipse">
            <a:avLst/>
          </a:prstGeom>
          <a:solidFill>
            <a:srgbClr val="FFFFFF"/>
          </a:solidFill>
          <a:ln w="38100">
            <a:solidFill>
              <a:srgbClr val="C9D2DC"/>
            </a:solidFill>
            <a:prstDash val="solid"/>
          </a:ln>
        </p:spPr>
      </p:sp>
      <p:pic>
        <p:nvPicPr>
          <p:cNvPr id="6" name="Image 0" descr="C:/Project/RatPlain/art/sprites/parts_a_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6968" y="2155941"/>
            <a:ext cx="649224" cy="580158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783080" y="2194560"/>
            <a:ext cx="11962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F31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일반</a:t>
            </a:r>
            <a:endParaRPr lang="en-US" sz="20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3063240"/>
            <a:ext cx="211066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230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수치만 오름</a:t>
            </a:r>
            <a:endParaRPr lang="en-US" sz="1300" dirty="0"/>
          </a:p>
        </p:txBody>
      </p:sp>
      <p:sp>
        <p:nvSpPr>
          <p:cNvPr id="9" name="등급 고급"/>
          <p:cNvSpPr/>
          <p:nvPr/>
        </p:nvSpPr>
        <p:spPr>
          <a:xfrm>
            <a:off x="3390824" y="1783080"/>
            <a:ext cx="2567864" cy="2651760"/>
          </a:xfrm>
          <a:prstGeom prst="roundRect">
            <a:avLst>
              <a:gd name="adj" fmla="val 4273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10" name="아이콘 테두리 고급"/>
          <p:cNvSpPr/>
          <p:nvPr/>
        </p:nvSpPr>
        <p:spPr>
          <a:xfrm>
            <a:off x="3619424" y="2011680"/>
            <a:ext cx="868680" cy="868680"/>
          </a:xfrm>
          <a:prstGeom prst="ellipse">
            <a:avLst/>
          </a:prstGeom>
          <a:solidFill>
            <a:srgbClr val="FFFFFF"/>
          </a:solidFill>
          <a:ln w="38100">
            <a:solidFill>
              <a:srgbClr val="7FD88A"/>
            </a:solidFill>
            <a:prstDash val="solid"/>
          </a:ln>
        </p:spPr>
      </p:sp>
      <p:pic>
        <p:nvPicPr>
          <p:cNvPr id="11" name="Image 1" descr="C:/Project/RatPlain/art/sprites/parts_a_3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29152" y="2263995"/>
            <a:ext cx="649224" cy="364051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4625264" y="2194560"/>
            <a:ext cx="11962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F31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고급</a:t>
            </a:r>
            <a:endParaRPr lang="en-US" sz="2000" dirty="0"/>
          </a:p>
        </p:txBody>
      </p:sp>
      <p:sp>
        <p:nvSpPr>
          <p:cNvPr id="13" name="Text 9"/>
          <p:cNvSpPr txBox="1"/>
          <p:nvPr/>
        </p:nvSpPr>
        <p:spPr>
          <a:xfrm>
            <a:off x="3619424" y="3063240"/>
            <a:ext cx="211066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230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수치가 더 오르거나 두 개가 같이 오름</a:t>
            </a:r>
            <a:endParaRPr lang="en-US" sz="1300" dirty="0"/>
          </a:p>
        </p:txBody>
      </p:sp>
      <p:sp>
        <p:nvSpPr>
          <p:cNvPr id="14" name="등급 희귀"/>
          <p:cNvSpPr/>
          <p:nvPr/>
        </p:nvSpPr>
        <p:spPr>
          <a:xfrm>
            <a:off x="6233008" y="1783080"/>
            <a:ext cx="2567864" cy="2651760"/>
          </a:xfrm>
          <a:prstGeom prst="roundRect">
            <a:avLst>
              <a:gd name="adj" fmla="val 4273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15" name="아이콘 테두리 희귀"/>
          <p:cNvSpPr/>
          <p:nvPr/>
        </p:nvSpPr>
        <p:spPr>
          <a:xfrm>
            <a:off x="6461608" y="2011680"/>
            <a:ext cx="868680" cy="868680"/>
          </a:xfrm>
          <a:prstGeom prst="ellipse">
            <a:avLst/>
          </a:prstGeom>
          <a:solidFill>
            <a:srgbClr val="FFFFFF"/>
          </a:solidFill>
          <a:ln w="38100">
            <a:solidFill>
              <a:srgbClr val="6FB8FF"/>
            </a:solidFill>
            <a:prstDash val="solid"/>
          </a:ln>
        </p:spPr>
      </p:sp>
      <p:pic>
        <p:nvPicPr>
          <p:cNvPr id="16" name="Image 2" descr="C:/Project/RatPlain/art/sprites/parts_u1_4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71336" y="2160647"/>
            <a:ext cx="649224" cy="570746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7467448" y="2194560"/>
            <a:ext cx="11962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F31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희귀</a:t>
            </a:r>
            <a:endParaRPr lang="en-US" sz="2000" dirty="0"/>
          </a:p>
        </p:txBody>
      </p:sp>
      <p:sp>
        <p:nvSpPr>
          <p:cNvPr id="18" name="Text 13"/>
          <p:cNvSpPr txBox="1"/>
          <p:nvPr/>
        </p:nvSpPr>
        <p:spPr>
          <a:xfrm>
            <a:off x="6461608" y="3063240"/>
            <a:ext cx="211066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230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고유 효과 붙기 시작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230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예: 부스트 켜는 순간 무적 + 적 탄 지움</a:t>
            </a:r>
            <a:endParaRPr lang="en-US" sz="1300" dirty="0"/>
          </a:p>
        </p:txBody>
      </p:sp>
      <p:sp>
        <p:nvSpPr>
          <p:cNvPr id="19" name="등급 전설"/>
          <p:cNvSpPr/>
          <p:nvPr/>
        </p:nvSpPr>
        <p:spPr>
          <a:xfrm>
            <a:off x="9075191" y="1783080"/>
            <a:ext cx="2567864" cy="2651760"/>
          </a:xfrm>
          <a:prstGeom prst="roundRect">
            <a:avLst>
              <a:gd name="adj" fmla="val 4273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20" name="아이콘 테두리 전설"/>
          <p:cNvSpPr/>
          <p:nvPr/>
        </p:nvSpPr>
        <p:spPr>
          <a:xfrm>
            <a:off x="9303791" y="2011680"/>
            <a:ext cx="868680" cy="868680"/>
          </a:xfrm>
          <a:prstGeom prst="ellipse">
            <a:avLst/>
          </a:prstGeom>
          <a:solidFill>
            <a:srgbClr val="FFFFFF"/>
          </a:solidFill>
          <a:ln w="38100">
            <a:solidFill>
              <a:srgbClr val="FFB84D"/>
            </a:solidFill>
            <a:prstDash val="solid"/>
          </a:ln>
        </p:spPr>
      </p:sp>
      <p:pic>
        <p:nvPicPr>
          <p:cNvPr id="21" name="Image 3" descr="C:/Project/RatPlain/art/sprites/parts_u4_2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13519" y="2129046"/>
            <a:ext cx="649224" cy="633948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10309631" y="2194560"/>
            <a:ext cx="11962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F31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전설</a:t>
            </a:r>
            <a:endParaRPr lang="en-US" sz="2000" dirty="0"/>
          </a:p>
        </p:txBody>
      </p:sp>
      <p:sp>
        <p:nvSpPr>
          <p:cNvPr id="23" name="Text 17"/>
          <p:cNvSpPr txBox="1"/>
          <p:nvPr/>
        </p:nvSpPr>
        <p:spPr>
          <a:xfrm>
            <a:off x="9303791" y="3063240"/>
            <a:ext cx="211066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230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플레이 방식이 바뀜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230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예: 부스트 중 지나간 길에 융단 폭격</a:t>
            </a:r>
            <a:endParaRPr lang="en-US" sz="1300" dirty="0"/>
          </a:p>
        </p:txBody>
      </p:sp>
      <p:sp>
        <p:nvSpPr>
          <p:cNvPr id="24" name="장착 조건"/>
          <p:cNvSpPr/>
          <p:nvPr/>
        </p:nvSpPr>
        <p:spPr>
          <a:xfrm>
            <a:off x="548640" y="4663440"/>
            <a:ext cx="11094415" cy="1463040"/>
          </a:xfrm>
          <a:prstGeom prst="roundRect">
            <a:avLst>
              <a:gd name="adj" fmla="val 7500"/>
            </a:avLst>
          </a:prstGeom>
          <a:solidFill>
            <a:srgbClr val="FDF1D6"/>
          </a:solidFill>
          <a:ln w="12700">
            <a:solidFill>
              <a:srgbClr val="FDF1D6"/>
            </a:solidFill>
            <a:prstDash val="solid"/>
          </a:ln>
        </p:spPr>
      </p:sp>
      <p:sp>
        <p:nvSpPr>
          <p:cNvPr id="25" name="Text 19"/>
          <p:cNvSpPr txBox="1"/>
          <p:nvPr/>
        </p:nvSpPr>
        <p:spPr>
          <a:xfrm>
            <a:off x="822960" y="480060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F31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장착 조건</a:t>
            </a:r>
            <a:endParaRPr lang="en-US" sz="1600" dirty="0"/>
          </a:p>
        </p:txBody>
      </p:sp>
      <p:sp>
        <p:nvSpPr>
          <p:cNvPr id="26" name="Text 20"/>
          <p:cNvSpPr txBox="1"/>
          <p:nvPr/>
        </p:nvSpPr>
        <p:spPr>
          <a:xfrm>
            <a:off x="822960" y="521208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2230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가진 기체 + 그 부위가 있음 + 갈래 맞음 + 기체 단계 ≥ 장비 티어. 낮은 티어 장비는 높은 기체에 낄 수 있음</a:t>
            </a:r>
            <a:endParaRPr lang="en-US" sz="13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2230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장비 하나는 기체 하나에만 낌 (다른 기체로 옮기기는 가능). 전부 224종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78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연구 의뢰 / 합성</a:t>
            </a:r>
            <a:endParaRPr lang="en-US" sz="30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548640" y="1280160"/>
          <a:ext cx="5852160" cy="48463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pic>
        <p:nvPicPr>
          <p:cNvPr id="4" name="Image 0" descr="C:/Project/RatPlain/art/sprites/scientist_0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86552" y="1234440"/>
            <a:ext cx="955375" cy="1371600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6675120" y="1280160"/>
            <a:ext cx="374904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2230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상점 없음. 과학자 쥐한테 연구 의뢰 -&gt; 재화를 소모해 일정확률로 장비 획득 가능</a:t>
            </a:r>
            <a:endParaRPr lang="en-US" sz="13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2230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쓸 재화를 슬라이더로 직접 정함. 많이 쓸수록 높은 등급 확률이 올라감. 확률은 화면에 그대로 보여 줌</a:t>
            </a:r>
            <a:endParaRPr lang="en-US" sz="13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2230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티어는 테크 기준 (테크 60%, -1 25%, -2 10%, 나머지 5%). 가진 기체에 낄 수 있는 것만 나옴</a:t>
            </a:r>
            <a:endParaRPr lang="en-US" sz="1300" dirty="0"/>
          </a:p>
        </p:txBody>
      </p:sp>
      <p:sp>
        <p:nvSpPr>
          <p:cNvPr id="6" name="합성 카드"/>
          <p:cNvSpPr/>
          <p:nvPr/>
        </p:nvSpPr>
        <p:spPr>
          <a:xfrm>
            <a:off x="6675120" y="4526280"/>
            <a:ext cx="4967935" cy="1600200"/>
          </a:xfrm>
          <a:prstGeom prst="roundRect">
            <a:avLst>
              <a:gd name="adj" fmla="val 6857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6903720" y="4663440"/>
            <a:ext cx="451073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1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합성  </a:t>
            </a:r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230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티어 / 같은 등급 3개 → 한 등급 위 1개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1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티어 업  </a:t>
            </a:r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230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티어 전설 3~6개 → 한 티어 위 전설 (35 / 50 / 65 / 80%). 실패하면 하나만 남음. 한 단계 위 기체가 있어야 가능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78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비쥬얼 가이드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71600"/>
            <a:ext cx="5394960" cy="4754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2230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원작의 플랫한 그림체를 살리고, 탑뷰를 이용해 공중 도그 파이트의 구현을 이루어 낸다</a:t>
            </a:r>
            <a:endParaRPr lang="en-US" sz="14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2230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셀 애니메이션 식으로 배경을 먼저 생성 후 위에 객체를 올림. 구름은 비행기 위로 지나가게 해서 높이감</a:t>
            </a:r>
            <a:endParaRPr lang="en-US" sz="14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2230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이펙트는 벡터로 투사체와 연기를 형성해서 총알 표현. 폭발은 그림 이펙트, 적 재질 따라 금속 파편 / 깃털</a:t>
            </a:r>
            <a:endParaRPr lang="en-US" sz="14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2230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위험한 건 전부 빨간색 계열로 예고. 줍는 건 코인 노란색, 톱니 회색, 렌치 초록</a:t>
            </a:r>
            <a:endParaRPr lang="en-US" sz="14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2230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사운드: 타이틀 오케스트라 팝, 전투 오케스트라 록, 보스 단조 록. 효과음 17개</a:t>
            </a:r>
            <a:endParaRPr lang="en-US" sz="1400" dirty="0"/>
          </a:p>
        </p:txBody>
      </p:sp>
      <p:sp>
        <p:nvSpPr>
          <p:cNvPr id="4" name="보스 (용암 불사조)"/>
          <p:cNvSpPr/>
          <p:nvPr/>
        </p:nvSpPr>
        <p:spPr>
          <a:xfrm>
            <a:off x="6309360" y="1371600"/>
            <a:ext cx="1625498" cy="2240280"/>
          </a:xfrm>
          <a:prstGeom prst="roundRect">
            <a:avLst>
              <a:gd name="adj" fmla="val 6750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pic>
        <p:nvPicPr>
          <p:cNvPr id="5" name="Image 0" descr="C:/Project/RatPlain/art/sprites/boss_phoenix_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92240" y="1679012"/>
            <a:ext cx="1259738" cy="1305416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309360" y="3200400"/>
            <a:ext cx="162549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보스 (용암 불사조)</a:t>
            </a:r>
            <a:endParaRPr lang="en-US" sz="1100" dirty="0"/>
          </a:p>
        </p:txBody>
      </p:sp>
      <p:sp>
        <p:nvSpPr>
          <p:cNvPr id="7" name="적 (하늘 고양이)"/>
          <p:cNvSpPr/>
          <p:nvPr/>
        </p:nvSpPr>
        <p:spPr>
          <a:xfrm>
            <a:off x="8163458" y="1371600"/>
            <a:ext cx="1625498" cy="2240280"/>
          </a:xfrm>
          <a:prstGeom prst="roundRect">
            <a:avLst>
              <a:gd name="adj" fmla="val 6750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pic>
        <p:nvPicPr>
          <p:cNvPr id="8" name="Image 1" descr="C:/Project/RatPlain/art/sprites/e_cat_0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46338" y="1812862"/>
            <a:ext cx="1259738" cy="1037716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8163458" y="3200400"/>
            <a:ext cx="162549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적 (하늘 고양이)</a:t>
            </a:r>
            <a:endParaRPr lang="en-US" sz="1100" dirty="0"/>
          </a:p>
        </p:txBody>
      </p:sp>
      <p:sp>
        <p:nvSpPr>
          <p:cNvPr id="10" name="기체 (공중 항공모함)"/>
          <p:cNvSpPr/>
          <p:nvPr/>
        </p:nvSpPr>
        <p:spPr>
          <a:xfrm>
            <a:off x="10017557" y="1371600"/>
            <a:ext cx="1625498" cy="2240280"/>
          </a:xfrm>
          <a:prstGeom prst="roundRect">
            <a:avLst>
              <a:gd name="adj" fmla="val 6750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pic>
        <p:nvPicPr>
          <p:cNvPr id="11" name="Image 2" descr="C:/Project/RatPlain/art/sprites/player_carrier_0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00437" y="1737881"/>
            <a:ext cx="1259738" cy="1187677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0017557" y="3200400"/>
            <a:ext cx="162549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기체 (공중 항공모함)</a:t>
            </a:r>
            <a:endParaRPr lang="en-US" sz="1100" dirty="0"/>
          </a:p>
        </p:txBody>
      </p:sp>
      <p:sp>
        <p:nvSpPr>
          <p:cNvPr id="13" name="폭발 이펙트"/>
          <p:cNvSpPr/>
          <p:nvPr/>
        </p:nvSpPr>
        <p:spPr>
          <a:xfrm>
            <a:off x="6309360" y="3886200"/>
            <a:ext cx="1625498" cy="2240280"/>
          </a:xfrm>
          <a:prstGeom prst="roundRect">
            <a:avLst>
              <a:gd name="adj" fmla="val 6750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pic>
        <p:nvPicPr>
          <p:cNvPr id="14" name="Image 3" descr="C:/Project/RatPlain/art/sprites/fx_0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92240" y="4219912"/>
            <a:ext cx="1259738" cy="1252817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6309360" y="5715000"/>
            <a:ext cx="162549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폭발 이펙트</a:t>
            </a:r>
            <a:endParaRPr lang="en-US" sz="1100" dirty="0"/>
          </a:p>
        </p:txBody>
      </p:sp>
      <p:sp>
        <p:nvSpPr>
          <p:cNvPr id="16" name="배경 (섬)"/>
          <p:cNvSpPr/>
          <p:nvPr/>
        </p:nvSpPr>
        <p:spPr>
          <a:xfrm>
            <a:off x="8163458" y="3886200"/>
            <a:ext cx="1625498" cy="2240280"/>
          </a:xfrm>
          <a:prstGeom prst="roundRect">
            <a:avLst>
              <a:gd name="adj" fmla="val 6750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pic>
        <p:nvPicPr>
          <p:cNvPr id="17" name="Image 4" descr="C:/Project/RatPlain/art/sprites/islands_0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46338" y="4223128"/>
            <a:ext cx="1259738" cy="1246384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8163458" y="5715000"/>
            <a:ext cx="162549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배경 (섬)</a:t>
            </a:r>
            <a:endParaRPr lang="en-US" sz="1100" dirty="0"/>
          </a:p>
        </p:txBody>
      </p:sp>
      <p:sp>
        <p:nvSpPr>
          <p:cNvPr id="19" name="줍는 것 (톱니)"/>
          <p:cNvSpPr/>
          <p:nvPr/>
        </p:nvSpPr>
        <p:spPr>
          <a:xfrm>
            <a:off x="10017557" y="3886200"/>
            <a:ext cx="1625498" cy="2240280"/>
          </a:xfrm>
          <a:prstGeom prst="roundRect">
            <a:avLst>
              <a:gd name="adj" fmla="val 6750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pic>
        <p:nvPicPr>
          <p:cNvPr id="20" name="Image 5" descr="C:/Project/RatPlain/art/sprites/items_0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200437" y="4338361"/>
            <a:ext cx="1259738" cy="1015918"/>
          </a:xfrm>
          <a:prstGeom prst="rect">
            <a:avLst/>
          </a:prstGeom>
        </p:spPr>
      </p:pic>
      <p:sp>
        <p:nvSpPr>
          <p:cNvPr id="21" name="Text 13"/>
          <p:cNvSpPr txBox="1"/>
          <p:nvPr/>
        </p:nvSpPr>
        <p:spPr>
          <a:xfrm>
            <a:off x="10017557" y="5715000"/>
            <a:ext cx="162549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줍는 것 (톱니)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78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플랫폼 / BM</a:t>
            </a:r>
            <a:endParaRPr lang="en-US" sz="3000" dirty="0"/>
          </a:p>
        </p:txBody>
      </p:sp>
      <p:sp>
        <p:nvSpPr>
          <p:cNvPr id="3" name="PC 스팀 패키지"/>
          <p:cNvSpPr/>
          <p:nvPr/>
        </p:nvSpPr>
        <p:spPr>
          <a:xfrm>
            <a:off x="548640" y="1463040"/>
            <a:ext cx="3454298" cy="3017520"/>
          </a:xfrm>
          <a:prstGeom prst="roundRect">
            <a:avLst>
              <a:gd name="adj" fmla="val 3636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4" name="점 1"/>
          <p:cNvSpPr/>
          <p:nvPr/>
        </p:nvSpPr>
        <p:spPr>
          <a:xfrm>
            <a:off x="868680" y="1737360"/>
            <a:ext cx="685800" cy="685800"/>
          </a:xfrm>
          <a:prstGeom prst="ellipse">
            <a:avLst/>
          </a:prstGeom>
          <a:solidFill>
            <a:srgbClr val="1F3147"/>
          </a:solidFill>
          <a:ln w="12700">
            <a:solidFill>
              <a:srgbClr val="1F314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68680" y="173736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2606040"/>
            <a:ext cx="28142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F31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PC 스팀 패키지</a:t>
            </a:r>
            <a:endParaRPr lang="en-US" sz="1900" dirty="0"/>
          </a:p>
        </p:txBody>
      </p:sp>
      <p:sp>
        <p:nvSpPr>
          <p:cNvPr id="7" name="Text 5"/>
          <p:cNvSpPr txBox="1"/>
          <p:nvPr/>
        </p:nvSpPr>
        <p:spPr>
          <a:xfrm>
            <a:off x="868680" y="3154680"/>
            <a:ext cx="281421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230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키보드 + 마우스. 이동이랑 조준을 동시에 하는 게 핵심이라 모바일 / 터치는 안 함</a:t>
            </a:r>
            <a:endParaRPr lang="en-US" sz="1400" dirty="0"/>
          </a:p>
        </p:txBody>
      </p:sp>
      <p:sp>
        <p:nvSpPr>
          <p:cNvPr id="8" name="뽑기는 게임 재화로만"/>
          <p:cNvSpPr/>
          <p:nvPr/>
        </p:nvSpPr>
        <p:spPr>
          <a:xfrm>
            <a:off x="4368698" y="1463040"/>
            <a:ext cx="3454298" cy="3017520"/>
          </a:xfrm>
          <a:prstGeom prst="roundRect">
            <a:avLst>
              <a:gd name="adj" fmla="val 3636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9" name="점 2"/>
          <p:cNvSpPr/>
          <p:nvPr/>
        </p:nvSpPr>
        <p:spPr>
          <a:xfrm>
            <a:off x="4688738" y="1737360"/>
            <a:ext cx="685800" cy="685800"/>
          </a:xfrm>
          <a:prstGeom prst="ellipse">
            <a:avLst/>
          </a:prstGeom>
          <a:solidFill>
            <a:srgbClr val="F5B82E"/>
          </a:solidFill>
          <a:ln w="12700">
            <a:solidFill>
              <a:srgbClr val="F5B82E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688738" y="173736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4688738" y="2606040"/>
            <a:ext cx="28142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F31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뽑기는 게임 재화로만</a:t>
            </a:r>
            <a:endParaRPr lang="en-US" sz="1900" dirty="0"/>
          </a:p>
        </p:txBody>
      </p:sp>
      <p:sp>
        <p:nvSpPr>
          <p:cNvPr id="12" name="Text 10"/>
          <p:cNvSpPr txBox="1"/>
          <p:nvPr/>
        </p:nvSpPr>
        <p:spPr>
          <a:xfrm>
            <a:off x="4688738" y="3154680"/>
            <a:ext cx="281421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230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연구 의뢰에 현금 결제 없음. 확률도 다 공개해서 뽑기 거부감 줄임</a:t>
            </a:r>
            <a:endParaRPr lang="en-US" sz="1400" dirty="0"/>
          </a:p>
        </p:txBody>
      </p:sp>
      <p:sp>
        <p:nvSpPr>
          <p:cNvPr id="13" name="나중에 DLC"/>
          <p:cNvSpPr/>
          <p:nvPr/>
        </p:nvSpPr>
        <p:spPr>
          <a:xfrm>
            <a:off x="8188757" y="1463040"/>
            <a:ext cx="3454298" cy="3017520"/>
          </a:xfrm>
          <a:prstGeom prst="roundRect">
            <a:avLst>
              <a:gd name="adj" fmla="val 3636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14" name="점 3"/>
          <p:cNvSpPr/>
          <p:nvPr/>
        </p:nvSpPr>
        <p:spPr>
          <a:xfrm>
            <a:off x="8508797" y="1737360"/>
            <a:ext cx="685800" cy="685800"/>
          </a:xfrm>
          <a:prstGeom prst="ellipse">
            <a:avLst/>
          </a:prstGeom>
          <a:solidFill>
            <a:srgbClr val="5B9FCF"/>
          </a:solidFill>
          <a:ln w="12700">
            <a:solidFill>
              <a:srgbClr val="5B9FC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508797" y="173736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2000" dirty="0"/>
          </a:p>
        </p:txBody>
      </p:sp>
      <p:sp>
        <p:nvSpPr>
          <p:cNvPr id="16" name="Text 14"/>
          <p:cNvSpPr txBox="1"/>
          <p:nvPr/>
        </p:nvSpPr>
        <p:spPr>
          <a:xfrm>
            <a:off x="8508797" y="2606040"/>
            <a:ext cx="28142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F31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나중에 DLC</a:t>
            </a:r>
            <a:endParaRPr lang="en-US" sz="1900" dirty="0"/>
          </a:p>
        </p:txBody>
      </p:sp>
      <p:sp>
        <p:nvSpPr>
          <p:cNvPr id="17" name="Text 15"/>
          <p:cNvSpPr txBox="1"/>
          <p:nvPr/>
        </p:nvSpPr>
        <p:spPr>
          <a:xfrm>
            <a:off x="8508797" y="3154680"/>
            <a:ext cx="281421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230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스테이지 / 보스 / 기체 갈래 추가, 원작 다른 캐릭터 기체 스킨 정도 생각</a:t>
            </a:r>
            <a:endParaRPr lang="en-US" sz="1400" dirty="0"/>
          </a:p>
        </p:txBody>
      </p:sp>
      <p:pic>
        <p:nvPicPr>
          <p:cNvPr id="18" name="Image 0" descr="C:/Project/RatPlain/art/sprites/title_art_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06251" y="4617720"/>
            <a:ext cx="2640458" cy="16459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78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개발 현황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2344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지금 웹 데모로 돌아가는 것</a:t>
            </a:r>
            <a:endParaRPr lang="en-US" sz="1500" dirty="0"/>
          </a:p>
        </p:txBody>
      </p:sp>
      <p:sp>
        <p:nvSpPr>
          <p:cNvPr id="4" name="스테이지"/>
          <p:cNvSpPr/>
          <p:nvPr/>
        </p:nvSpPr>
        <p:spPr>
          <a:xfrm>
            <a:off x="548640" y="1691640"/>
            <a:ext cx="1658569" cy="1600200"/>
          </a:xfrm>
          <a:prstGeom prst="roundRect">
            <a:avLst>
              <a:gd name="adj" fmla="val 6857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783080"/>
            <a:ext cx="165856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1F31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</a:t>
            </a:r>
            <a:endParaRPr lang="en-US" sz="4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697480"/>
            <a:ext cx="1658569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스테이지</a:t>
            </a:r>
            <a:endParaRPr lang="en-US" sz="1400" dirty="0"/>
          </a:p>
        </p:txBody>
      </p:sp>
      <p:sp>
        <p:nvSpPr>
          <p:cNvPr id="7" name="보스"/>
          <p:cNvSpPr/>
          <p:nvPr/>
        </p:nvSpPr>
        <p:spPr>
          <a:xfrm>
            <a:off x="2435809" y="1691640"/>
            <a:ext cx="1658569" cy="1600200"/>
          </a:xfrm>
          <a:prstGeom prst="roundRect">
            <a:avLst>
              <a:gd name="adj" fmla="val 6857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435809" y="1783080"/>
            <a:ext cx="165856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1F31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</a:t>
            </a:r>
            <a:endParaRPr lang="en-US" sz="4400" dirty="0"/>
          </a:p>
        </p:txBody>
      </p:sp>
      <p:sp>
        <p:nvSpPr>
          <p:cNvPr id="9" name="Text 7"/>
          <p:cNvSpPr txBox="1"/>
          <p:nvPr/>
        </p:nvSpPr>
        <p:spPr>
          <a:xfrm>
            <a:off x="2435809" y="2697480"/>
            <a:ext cx="1658569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보스</a:t>
            </a:r>
            <a:endParaRPr lang="en-US" sz="1400" dirty="0"/>
          </a:p>
        </p:txBody>
      </p:sp>
      <p:sp>
        <p:nvSpPr>
          <p:cNvPr id="10" name="일반 적"/>
          <p:cNvSpPr/>
          <p:nvPr/>
        </p:nvSpPr>
        <p:spPr>
          <a:xfrm>
            <a:off x="4322978" y="1691640"/>
            <a:ext cx="1658569" cy="1600200"/>
          </a:xfrm>
          <a:prstGeom prst="roundRect">
            <a:avLst>
              <a:gd name="adj" fmla="val 6857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322978" y="1783080"/>
            <a:ext cx="165856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1F31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</a:t>
            </a:r>
            <a:endParaRPr lang="en-US" sz="4400" dirty="0"/>
          </a:p>
        </p:txBody>
      </p:sp>
      <p:sp>
        <p:nvSpPr>
          <p:cNvPr id="12" name="Text 10"/>
          <p:cNvSpPr txBox="1"/>
          <p:nvPr/>
        </p:nvSpPr>
        <p:spPr>
          <a:xfrm>
            <a:off x="4322978" y="2697480"/>
            <a:ext cx="1658569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일반 적</a:t>
            </a:r>
            <a:endParaRPr lang="en-US" sz="1400" dirty="0"/>
          </a:p>
        </p:txBody>
      </p:sp>
      <p:sp>
        <p:nvSpPr>
          <p:cNvPr id="13" name="기체"/>
          <p:cNvSpPr/>
          <p:nvPr/>
        </p:nvSpPr>
        <p:spPr>
          <a:xfrm>
            <a:off x="6210148" y="1691640"/>
            <a:ext cx="1658569" cy="1600200"/>
          </a:xfrm>
          <a:prstGeom prst="roundRect">
            <a:avLst>
              <a:gd name="adj" fmla="val 6857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210148" y="1783080"/>
            <a:ext cx="165856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1F31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16</a:t>
            </a:r>
            <a:endParaRPr lang="en-US" sz="4400" dirty="0"/>
          </a:p>
        </p:txBody>
      </p:sp>
      <p:sp>
        <p:nvSpPr>
          <p:cNvPr id="15" name="Text 13"/>
          <p:cNvSpPr txBox="1"/>
          <p:nvPr/>
        </p:nvSpPr>
        <p:spPr>
          <a:xfrm>
            <a:off x="6210148" y="2697480"/>
            <a:ext cx="1658569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기체</a:t>
            </a:r>
            <a:endParaRPr lang="en-US" sz="1400" dirty="0"/>
          </a:p>
        </p:txBody>
      </p:sp>
      <p:sp>
        <p:nvSpPr>
          <p:cNvPr id="16" name="장비"/>
          <p:cNvSpPr/>
          <p:nvPr/>
        </p:nvSpPr>
        <p:spPr>
          <a:xfrm>
            <a:off x="8097317" y="1691640"/>
            <a:ext cx="1658569" cy="1600200"/>
          </a:xfrm>
          <a:prstGeom prst="roundRect">
            <a:avLst>
              <a:gd name="adj" fmla="val 6857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097317" y="1783080"/>
            <a:ext cx="165856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E053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224</a:t>
            </a:r>
            <a:endParaRPr lang="en-US" sz="4400" dirty="0"/>
          </a:p>
        </p:txBody>
      </p:sp>
      <p:sp>
        <p:nvSpPr>
          <p:cNvPr id="18" name="Text 16"/>
          <p:cNvSpPr txBox="1"/>
          <p:nvPr/>
        </p:nvSpPr>
        <p:spPr>
          <a:xfrm>
            <a:off x="8097317" y="2697480"/>
            <a:ext cx="1658569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장비</a:t>
            </a:r>
            <a:endParaRPr lang="en-US" sz="1400" dirty="0"/>
          </a:p>
        </p:txBody>
      </p:sp>
      <p:sp>
        <p:nvSpPr>
          <p:cNvPr id="19" name="효과음"/>
          <p:cNvSpPr/>
          <p:nvPr/>
        </p:nvSpPr>
        <p:spPr>
          <a:xfrm>
            <a:off x="9984486" y="1691640"/>
            <a:ext cx="1658569" cy="1600200"/>
          </a:xfrm>
          <a:prstGeom prst="roundRect">
            <a:avLst>
              <a:gd name="adj" fmla="val 6857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9984486" y="1783080"/>
            <a:ext cx="165856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1F31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17</a:t>
            </a:r>
            <a:endParaRPr lang="en-US" sz="4400" dirty="0"/>
          </a:p>
        </p:txBody>
      </p:sp>
      <p:sp>
        <p:nvSpPr>
          <p:cNvPr id="21" name="Text 19"/>
          <p:cNvSpPr txBox="1"/>
          <p:nvPr/>
        </p:nvSpPr>
        <p:spPr>
          <a:xfrm>
            <a:off x="9984486" y="2697480"/>
            <a:ext cx="1658569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효과음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548640" y="342900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 밖에 맵 특성 5, 연구 의뢰 / 합성 / 티어 업, BGM 3곡, 저장까지 들어가 있음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548640" y="402336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앞으로 할 것</a:t>
            </a:r>
            <a:endParaRPr lang="en-US" sz="1500" dirty="0"/>
          </a:p>
        </p:txBody>
      </p:sp>
      <p:sp>
        <p:nvSpPr>
          <p:cNvPr id="24" name="할 것 1"/>
          <p:cNvSpPr/>
          <p:nvPr/>
        </p:nvSpPr>
        <p:spPr>
          <a:xfrm>
            <a:off x="548640" y="4480560"/>
            <a:ext cx="2602154" cy="1645920"/>
          </a:xfrm>
          <a:prstGeom prst="roundRect">
            <a:avLst>
              <a:gd name="adj" fmla="val 6667"/>
            </a:avLst>
          </a:prstGeom>
          <a:solidFill>
            <a:srgbClr val="FDF1D6"/>
          </a:solidFill>
          <a:ln w="12700">
            <a:solidFill>
              <a:srgbClr val="FDF1D6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77240" y="4617720"/>
            <a:ext cx="214495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F31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1. 현장 개조 넣기</a:t>
            </a:r>
            <a:endParaRPr lang="en-US" sz="1600" dirty="0"/>
          </a:p>
        </p:txBody>
      </p:sp>
      <p:sp>
        <p:nvSpPr>
          <p:cNvPr id="26" name="Text 24"/>
          <p:cNvSpPr txBox="1"/>
          <p:nvPr/>
        </p:nvSpPr>
        <p:spPr>
          <a:xfrm>
            <a:off x="777240" y="5074920"/>
            <a:ext cx="214495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230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로그라이트 부분</a:t>
            </a:r>
            <a:endParaRPr lang="en-US" sz="1300" dirty="0"/>
          </a:p>
        </p:txBody>
      </p:sp>
      <p:sp>
        <p:nvSpPr>
          <p:cNvPr id="27" name="할 것 2"/>
          <p:cNvSpPr/>
          <p:nvPr/>
        </p:nvSpPr>
        <p:spPr>
          <a:xfrm>
            <a:off x="3379394" y="4480560"/>
            <a:ext cx="2602154" cy="1645920"/>
          </a:xfrm>
          <a:prstGeom prst="roundRect">
            <a:avLst>
              <a:gd name="adj" fmla="val 6667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3607994" y="4617720"/>
            <a:ext cx="214495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F31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2. 난이도 / 경제 조정</a:t>
            </a:r>
            <a:endParaRPr lang="en-US" sz="1600" dirty="0"/>
          </a:p>
        </p:txBody>
      </p:sp>
      <p:sp>
        <p:nvSpPr>
          <p:cNvPr id="29" name="Text 27"/>
          <p:cNvSpPr txBox="1"/>
          <p:nvPr/>
        </p:nvSpPr>
        <p:spPr>
          <a:xfrm>
            <a:off x="3607994" y="5074920"/>
            <a:ext cx="214495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230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봇으로만 돌려 봐서 사람이 직접 해 보며 맞춤</a:t>
            </a:r>
            <a:endParaRPr lang="en-US" sz="1300" dirty="0"/>
          </a:p>
        </p:txBody>
      </p:sp>
      <p:sp>
        <p:nvSpPr>
          <p:cNvPr id="30" name="할 것 3"/>
          <p:cNvSpPr/>
          <p:nvPr/>
        </p:nvSpPr>
        <p:spPr>
          <a:xfrm>
            <a:off x="6210148" y="4480560"/>
            <a:ext cx="2602154" cy="1645920"/>
          </a:xfrm>
          <a:prstGeom prst="roundRect">
            <a:avLst>
              <a:gd name="adj" fmla="val 6667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6438748" y="4617720"/>
            <a:ext cx="214495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F31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 Unity 이식</a:t>
            </a:r>
            <a:endParaRPr lang="en-US" sz="1600" dirty="0"/>
          </a:p>
        </p:txBody>
      </p:sp>
      <p:sp>
        <p:nvSpPr>
          <p:cNvPr id="32" name="Text 30"/>
          <p:cNvSpPr txBox="1"/>
          <p:nvPr/>
        </p:nvSpPr>
        <p:spPr>
          <a:xfrm>
            <a:off x="6438748" y="5074920"/>
            <a:ext cx="214495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230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수치랑 스테이지 표는 데이터로 옮김</a:t>
            </a:r>
            <a:endParaRPr lang="en-US" sz="1300" dirty="0"/>
          </a:p>
        </p:txBody>
      </p:sp>
      <p:sp>
        <p:nvSpPr>
          <p:cNvPr id="33" name="할 것 4"/>
          <p:cNvSpPr/>
          <p:nvPr/>
        </p:nvSpPr>
        <p:spPr>
          <a:xfrm>
            <a:off x="9040901" y="4480560"/>
            <a:ext cx="2602154" cy="1645920"/>
          </a:xfrm>
          <a:prstGeom prst="roundRect">
            <a:avLst>
              <a:gd name="adj" fmla="val 6667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9269501" y="4617720"/>
            <a:ext cx="214495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F31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4. 출시 준비</a:t>
            </a:r>
            <a:endParaRPr lang="en-US" sz="1600" dirty="0"/>
          </a:p>
        </p:txBody>
      </p:sp>
      <p:sp>
        <p:nvSpPr>
          <p:cNvPr id="35" name="Text 33"/>
          <p:cNvSpPr txBox="1"/>
          <p:nvPr/>
        </p:nvSpPr>
        <p:spPr>
          <a:xfrm>
            <a:off x="9269501" y="5074920"/>
            <a:ext cx="214495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230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스토리 컷신, 로고, 스팀 페이지, 데모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78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걱정되는 것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2801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053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걱정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6309360" y="12801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5B9FC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어떻게 할지</a:t>
            </a:r>
            <a:endParaRPr lang="en-US" sz="1400" dirty="0"/>
          </a:p>
        </p:txBody>
      </p:sp>
      <p:sp>
        <p:nvSpPr>
          <p:cNvPr id="5" name="걱정 1"/>
          <p:cNvSpPr/>
          <p:nvPr/>
        </p:nvSpPr>
        <p:spPr>
          <a:xfrm>
            <a:off x="548640" y="1783080"/>
            <a:ext cx="5120640" cy="914400"/>
          </a:xfrm>
          <a:prstGeom prst="roundRect">
            <a:avLst>
              <a:gd name="adj" fmla="val 12000"/>
            </a:avLst>
          </a:prstGeom>
          <a:solidFill>
            <a:srgbClr val="FBE7E3"/>
          </a:solidFill>
          <a:ln w="12700">
            <a:solidFill>
              <a:srgbClr val="FBE7E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1783080"/>
            <a:ext cx="4572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230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탄막이 너무 어려우면 캐쥬얼 감성이랑 안 맞음</a:t>
            </a:r>
            <a:endParaRPr lang="en-US" sz="1500" dirty="0"/>
          </a:p>
        </p:txBody>
      </p:sp>
      <p:sp>
        <p:nvSpPr>
          <p:cNvPr id="7" name="화살표 1"/>
          <p:cNvSpPr/>
          <p:nvPr/>
        </p:nvSpPr>
        <p:spPr>
          <a:xfrm>
            <a:off x="5760720" y="2084832"/>
            <a:ext cx="411480" cy="310896"/>
          </a:xfrm>
          <a:prstGeom prst="rightArrow">
            <a:avLst/>
          </a:prstGeom>
          <a:solidFill>
            <a:srgbClr val="6B7785"/>
          </a:solidFill>
          <a:ln w="12700">
            <a:solidFill>
              <a:srgbClr val="6B7785"/>
            </a:solidFill>
            <a:prstDash val="solid"/>
          </a:ln>
        </p:spPr>
      </p:sp>
      <p:sp>
        <p:nvSpPr>
          <p:cNvPr id="8" name="대응 1"/>
          <p:cNvSpPr/>
          <p:nvPr/>
        </p:nvSpPr>
        <p:spPr>
          <a:xfrm>
            <a:off x="6309360" y="1783080"/>
            <a:ext cx="5333695" cy="914400"/>
          </a:xfrm>
          <a:prstGeom prst="roundRect">
            <a:avLst>
              <a:gd name="adj" fmla="val 12000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583680" y="1783080"/>
            <a:ext cx="478505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30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센 공격은 다 예고, 안 쏘면 회복, 추락해도 절반 보상</a:t>
            </a:r>
            <a:endParaRPr lang="en-US" sz="1400" dirty="0"/>
          </a:p>
        </p:txBody>
      </p:sp>
      <p:sp>
        <p:nvSpPr>
          <p:cNvPr id="10" name="걱정 2"/>
          <p:cNvSpPr/>
          <p:nvPr/>
        </p:nvSpPr>
        <p:spPr>
          <a:xfrm>
            <a:off x="548640" y="2880360"/>
            <a:ext cx="5120640" cy="914400"/>
          </a:xfrm>
          <a:prstGeom prst="roundRect">
            <a:avLst>
              <a:gd name="adj" fmla="val 12000"/>
            </a:avLst>
          </a:prstGeom>
          <a:solidFill>
            <a:srgbClr val="FBE7E3"/>
          </a:solidFill>
          <a:ln w="12700">
            <a:solidFill>
              <a:srgbClr val="FBE7E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22960" y="2880360"/>
            <a:ext cx="4572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230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장비 224종 밸런스</a:t>
            </a:r>
            <a:endParaRPr lang="en-US" sz="1500" dirty="0"/>
          </a:p>
        </p:txBody>
      </p:sp>
      <p:sp>
        <p:nvSpPr>
          <p:cNvPr id="12" name="화살표 2"/>
          <p:cNvSpPr/>
          <p:nvPr/>
        </p:nvSpPr>
        <p:spPr>
          <a:xfrm>
            <a:off x="5760720" y="3182112"/>
            <a:ext cx="411480" cy="310896"/>
          </a:xfrm>
          <a:prstGeom prst="rightArrow">
            <a:avLst/>
          </a:prstGeom>
          <a:solidFill>
            <a:srgbClr val="6B7785"/>
          </a:solidFill>
          <a:ln w="12700">
            <a:solidFill>
              <a:srgbClr val="6B7785"/>
            </a:solidFill>
            <a:prstDash val="solid"/>
          </a:ln>
        </p:spPr>
      </p:sp>
      <p:sp>
        <p:nvSpPr>
          <p:cNvPr id="13" name="대응 2"/>
          <p:cNvSpPr/>
          <p:nvPr/>
        </p:nvSpPr>
        <p:spPr>
          <a:xfrm>
            <a:off x="6309360" y="2880360"/>
            <a:ext cx="5333695" cy="914400"/>
          </a:xfrm>
          <a:prstGeom prst="roundRect">
            <a:avLst>
              <a:gd name="adj" fmla="val 12000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583680" y="2880360"/>
            <a:ext cx="478505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30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일반 / 고급은 틀 × 티어로 자동 생성, 고유 장비만 손으로 맞춤</a:t>
            </a:r>
            <a:endParaRPr lang="en-US" sz="1400" dirty="0"/>
          </a:p>
        </p:txBody>
      </p:sp>
      <p:sp>
        <p:nvSpPr>
          <p:cNvPr id="15" name="걱정 3"/>
          <p:cNvSpPr/>
          <p:nvPr/>
        </p:nvSpPr>
        <p:spPr>
          <a:xfrm>
            <a:off x="548640" y="3977640"/>
            <a:ext cx="5120640" cy="914400"/>
          </a:xfrm>
          <a:prstGeom prst="roundRect">
            <a:avLst>
              <a:gd name="adj" fmla="val 12000"/>
            </a:avLst>
          </a:prstGeom>
          <a:solidFill>
            <a:srgbClr val="FBE7E3"/>
          </a:solidFill>
          <a:ln w="12700">
            <a:solidFill>
              <a:srgbClr val="FBE7E3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22960" y="3977640"/>
            <a:ext cx="4572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230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뽑기 피로</a:t>
            </a:r>
            <a:endParaRPr lang="en-US" sz="1500" dirty="0"/>
          </a:p>
        </p:txBody>
      </p:sp>
      <p:sp>
        <p:nvSpPr>
          <p:cNvPr id="17" name="화살표 3"/>
          <p:cNvSpPr/>
          <p:nvPr/>
        </p:nvSpPr>
        <p:spPr>
          <a:xfrm>
            <a:off x="5760720" y="4279392"/>
            <a:ext cx="411480" cy="310896"/>
          </a:xfrm>
          <a:prstGeom prst="rightArrow">
            <a:avLst/>
          </a:prstGeom>
          <a:solidFill>
            <a:srgbClr val="6B7785"/>
          </a:solidFill>
          <a:ln w="12700">
            <a:solidFill>
              <a:srgbClr val="6B7785"/>
            </a:solidFill>
            <a:prstDash val="solid"/>
          </a:ln>
        </p:spPr>
      </p:sp>
      <p:sp>
        <p:nvSpPr>
          <p:cNvPr id="18" name="대응 3"/>
          <p:cNvSpPr/>
          <p:nvPr/>
        </p:nvSpPr>
        <p:spPr>
          <a:xfrm>
            <a:off x="6309360" y="3977640"/>
            <a:ext cx="5333695" cy="914400"/>
          </a:xfrm>
          <a:prstGeom prst="roundRect">
            <a:avLst>
              <a:gd name="adj" fmla="val 12000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583680" y="3977640"/>
            <a:ext cx="478505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30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투입량 직접 고르기, 확률 공개, 합성 / 티어 업으로 꽝도 재료로 씀</a:t>
            </a:r>
            <a:endParaRPr lang="en-US" sz="1400" dirty="0"/>
          </a:p>
        </p:txBody>
      </p:sp>
      <p:sp>
        <p:nvSpPr>
          <p:cNvPr id="20" name="걱정 4"/>
          <p:cNvSpPr/>
          <p:nvPr/>
        </p:nvSpPr>
        <p:spPr>
          <a:xfrm>
            <a:off x="548640" y="5074920"/>
            <a:ext cx="5120640" cy="914400"/>
          </a:xfrm>
          <a:prstGeom prst="roundRect">
            <a:avLst>
              <a:gd name="adj" fmla="val 12000"/>
            </a:avLst>
          </a:prstGeom>
          <a:solidFill>
            <a:srgbClr val="FBE7E3"/>
          </a:solidFill>
          <a:ln w="12700">
            <a:solidFill>
              <a:srgbClr val="FBE7E3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822960" y="5074920"/>
            <a:ext cx="4572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230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 안 성장이랑 판 밖 성장이 겹침</a:t>
            </a:r>
            <a:endParaRPr lang="en-US" sz="1500" dirty="0"/>
          </a:p>
        </p:txBody>
      </p:sp>
      <p:sp>
        <p:nvSpPr>
          <p:cNvPr id="22" name="화살표 4"/>
          <p:cNvSpPr/>
          <p:nvPr/>
        </p:nvSpPr>
        <p:spPr>
          <a:xfrm>
            <a:off x="5760720" y="5376672"/>
            <a:ext cx="411480" cy="310896"/>
          </a:xfrm>
          <a:prstGeom prst="rightArrow">
            <a:avLst/>
          </a:prstGeom>
          <a:solidFill>
            <a:srgbClr val="6B7785"/>
          </a:solidFill>
          <a:ln w="12700">
            <a:solidFill>
              <a:srgbClr val="6B7785"/>
            </a:solidFill>
            <a:prstDash val="solid"/>
          </a:ln>
        </p:spPr>
      </p:sp>
      <p:sp>
        <p:nvSpPr>
          <p:cNvPr id="23" name="대응 4"/>
          <p:cNvSpPr/>
          <p:nvPr/>
        </p:nvSpPr>
        <p:spPr>
          <a:xfrm>
            <a:off x="6309360" y="5074920"/>
            <a:ext cx="5333695" cy="914400"/>
          </a:xfrm>
          <a:prstGeom prst="roundRect">
            <a:avLst>
              <a:gd name="adj" fmla="val 12000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583680" y="5074920"/>
            <a:ext cx="478505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30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 안은 넓게 바뀌는 재미(키트), 판 밖은 기체 개성(갈래, 전설 장비)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78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/Project/RatPlain/art/sprites/title_bg_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어둡게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147">
              <a:alpha val="65000"/>
            </a:srgbClr>
          </a:solidFill>
          <a:ln w="12700">
            <a:solidFill>
              <a:srgbClr val="1F3147">
                <a:alpha val="0"/>
              </a:srgbClr>
            </a:solidFill>
            <a:prstDash val="solid"/>
          </a:ln>
        </p:spPr>
      </p:sp>
      <p:pic>
        <p:nvPicPr>
          <p:cNvPr id="4" name="Image 1" descr="C:/Project/RatPlain/art/sprites/title_art_0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0" y="1662038"/>
            <a:ext cx="5669280" cy="3533925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548640" y="1828800"/>
            <a:ext cx="5486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다음 단계</a:t>
            </a:r>
            <a:endParaRPr lang="en-US" sz="3200" dirty="0"/>
          </a:p>
        </p:txBody>
      </p:sp>
      <p:sp>
        <p:nvSpPr>
          <p:cNvPr id="6" name="Text 2"/>
          <p:cNvSpPr txBox="1"/>
          <p:nvPr/>
        </p:nvSpPr>
        <p:spPr>
          <a:xfrm>
            <a:off x="548640" y="2743200"/>
            <a:ext cx="53035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현장 개조 프로토타입 웹 데모에 넣기</a:t>
            </a:r>
            <a:endParaRPr lang="en-US" sz="18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사람이 직접 해 보면서 난이도 맞추기</a:t>
            </a:r>
            <a:endParaRPr lang="en-US" sz="18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Unity 이식 시작</a:t>
            </a:r>
            <a:endParaRPr lang="en-US" sz="1800" dirty="0"/>
          </a:p>
        </p:txBody>
      </p:sp>
      <p:sp>
        <p:nvSpPr>
          <p:cNvPr id="7" name="Text 0"/>
          <p:cNvSpPr/>
          <p:nvPr>
            <p:ph idx="100" type="title" hasCustomPrompt="1"/>
          </p:nvPr>
        </p:nvSpPr>
        <p:spPr>
          <a:xfrm>
            <a:off x="548640" y="36576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3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RatPlain">
  <a:themeElements>
    <a:clrScheme name="RatPlain">
      <a:dk1>
        <a:srgbClr val="22303F"/>
      </a:dk1>
      <a:lt1>
        <a:srgbClr val="FFFFFF"/>
      </a:lt1>
      <a:dk2>
        <a:srgbClr val="1F3147"/>
      </a:dk2>
      <a:lt2>
        <a:srgbClr val="EAF3FA"/>
      </a:lt2>
      <a:accent1>
        <a:srgbClr val="F5B82E"/>
      </a:accent1>
      <a:accent2>
        <a:srgbClr val="E0533A"/>
      </a:accent2>
      <a:accent3>
        <a:srgbClr val="5B9FCF"/>
      </a:accent3>
      <a:accent4>
        <a:srgbClr val="7FD88A"/>
      </a:accent4>
      <a:accent5>
        <a:srgbClr val="6FB8FF"/>
      </a:accent5>
      <a:accent6>
        <a:srgbClr val="FFB84D"/>
      </a:accent6>
      <a:hlink>
        <a:srgbClr val="2B6CB0"/>
      </a:hlink>
      <a:folHlink>
        <a:srgbClr val="6B46C1"/>
      </a:folHlink>
    </a:clrScheme>
    <a:fontScheme name="RatPlain">
      <a:majorFont>
        <a:latin typeface="Malgun Gothi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algun 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쥐 비행기 게임 컨셉 기획서</dc:title>
  <dc:subject>PptxGenJS Presentation</dc:subject>
  <dc:creator>PptxGenJS</dc:creator>
  <cp:lastModifiedBy>PptxGenJS</cp:lastModifiedBy>
  <cp:revision>1</cp:revision>
  <dcterms:created xsi:type="dcterms:W3CDTF">2026-10-28T03:29:05Z</dcterms:created>
  <dcterms:modified xsi:type="dcterms:W3CDTF">2026-10-28T03:29:05Z</dcterms:modified>
</cp:coreProperties>
</file>