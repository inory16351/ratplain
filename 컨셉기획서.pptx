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embeddedFontLst>
    <p:embeddedFont>
      <p:font typeface="Noto Sans KR" panose="020B0200000000000000" pitchFamily="50" charset="-127"/>
      <p:regular r:id="rId22"/>
      <p:bold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A7AC3605-7EC4-B636-7D7C-620F4D22E404}">
          <p14:sldIdLst>
            <p14:sldId id="256"/>
          </p14:sldIdLst>
        </p14:section>
        <p14:section name="개요" id="{D097B69E-3383-1D47-BE24-0A8B06003893}">
          <p14:sldIdLst>
            <p14:sldId id="257"/>
            <p14:sldId id="258"/>
            <p14:sldId id="259"/>
            <p14:sldId id="260"/>
          </p14:sldIdLst>
        </p14:section>
        <p14:section name="인게임" id="{25C57F14-C395-2A4E-52AD-3FB38459B18D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아웃게임" id="{C0C9F9A0-6301-DD09-3796-1CB1587F5749}">
          <p14:sldIdLst>
            <p14:sldId id="267"/>
            <p14:sldId id="268"/>
            <p14:sldId id="269"/>
          </p14:sldIdLst>
        </p14:section>
        <p14:section name="비쥬얼 / 사업" id="{38C751E9-D0A6-813B-75F6-AACA9A28BFB4}">
          <p14:sldIdLst>
            <p14:sldId id="270"/>
            <p14:sldId id="271"/>
            <p14:sldId id="272"/>
            <p14:sldId id="273"/>
          </p14:sldIdLst>
        </p14:section>
        <p14:section name="끝" id="{9ACF55F8-A84B-6999-F13E-76435A7D2E3B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14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3147"/>
                </a:solidFill>
                <a:latin typeface="+mn-lt"/>
              </a:rPr>
              <a:t>투입 코인별 등급 확률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일반</c:v>
                </c:pt>
              </c:strCache>
            </c:strRef>
          </c:tx>
          <c:spPr>
            <a:solidFill>
              <a:srgbClr val="C9D2DC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2303F"/>
                    </a:solidFill>
                    <a:latin typeface="+mn-lt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30</c:v>
                </c:pt>
                <c:pt idx="1">
                  <c:v>100</c:v>
                </c:pt>
                <c:pt idx="2">
                  <c:v>250</c:v>
                </c:pt>
                <c:pt idx="3">
                  <c:v>600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</c:v>
                </c:pt>
                <c:pt idx="1">
                  <c:v>45</c:v>
                </c:pt>
                <c:pt idx="2">
                  <c:v>25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F8-482F-B02A-B81AE56DD9B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고급</c:v>
                </c:pt>
              </c:strCache>
            </c:strRef>
          </c:tx>
          <c:spPr>
            <a:solidFill>
              <a:srgbClr val="7FD88A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2303F"/>
                    </a:solidFill>
                    <a:latin typeface="+mn-lt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30</c:v>
                </c:pt>
                <c:pt idx="1">
                  <c:v>100</c:v>
                </c:pt>
                <c:pt idx="2">
                  <c:v>250</c:v>
                </c:pt>
                <c:pt idx="3">
                  <c:v>600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25</c:v>
                </c:pt>
                <c:pt idx="1">
                  <c:v>38</c:v>
                </c:pt>
                <c:pt idx="2">
                  <c:v>40</c:v>
                </c:pt>
                <c:pt idx="3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5F8-482F-B02A-B81AE56DD9B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희귀</c:v>
                </c:pt>
              </c:strCache>
            </c:strRef>
          </c:tx>
          <c:spPr>
            <a:solidFill>
              <a:srgbClr val="6FB8FF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2303F"/>
                    </a:solidFill>
                    <a:latin typeface="+mn-lt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30</c:v>
                </c:pt>
                <c:pt idx="1">
                  <c:v>100</c:v>
                </c:pt>
                <c:pt idx="2">
                  <c:v>250</c:v>
                </c:pt>
                <c:pt idx="3">
                  <c:v>600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4.5</c:v>
                </c:pt>
                <c:pt idx="1">
                  <c:v>14</c:v>
                </c:pt>
                <c:pt idx="2">
                  <c:v>27</c:v>
                </c:pt>
                <c:pt idx="3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5F8-482F-B02A-B81AE56DD9B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전설</c:v>
                </c:pt>
              </c:strCache>
            </c:strRef>
          </c:tx>
          <c:spPr>
            <a:solidFill>
              <a:srgbClr val="FFB84D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2303F"/>
                    </a:solidFill>
                    <a:latin typeface="+mn-lt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30</c:v>
                </c:pt>
                <c:pt idx="1">
                  <c:v>100</c:v>
                </c:pt>
                <c:pt idx="2">
                  <c:v>250</c:v>
                </c:pt>
                <c:pt idx="3">
                  <c:v>600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0.5</c:v>
                </c:pt>
                <c:pt idx="1">
                  <c:v>3</c:v>
                </c:pt>
                <c:pt idx="2">
                  <c:v>8</c:v>
                </c:pt>
                <c:pt idx="3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5F8-482F-B02A-B81AE56DD9BB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785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7785"/>
                    </a:solidFill>
                    <a:latin typeface="Arial"/>
                  </a:rPr>
                  <a:t>투입 치즈 코인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78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D5DE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78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2303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0161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5"/>
                </a:solidFill>
              </a:rPr>
              <a:t>쥐 비행기 게임 (가제) · 컨셉 기획서 v1.0 · 정승운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31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5.png"/><Relationship Id="rId18" Type="http://schemas.openxmlformats.org/officeDocument/2006/relationships/image" Target="../media/image2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7.png"/><Relationship Id="rId17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4.png"/><Relationship Id="rId5" Type="http://schemas.openxmlformats.org/officeDocument/2006/relationships/image" Target="../media/image16.png"/><Relationship Id="rId15" Type="http://schemas.openxmlformats.org/officeDocument/2006/relationships/image" Target="../media/image15.png"/><Relationship Id="rId10" Type="http://schemas.openxmlformats.org/officeDocument/2006/relationships/image" Target="../media/image23.png"/><Relationship Id="rId4" Type="http://schemas.openxmlformats.org/officeDocument/2006/relationships/image" Target="../media/image20.png"/><Relationship Id="rId9" Type="http://schemas.openxmlformats.org/officeDocument/2006/relationships/image" Target="../media/image22.png"/><Relationship Id="rId1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3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28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Project/RatPlain/art/sprites/title_bg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d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147">
              <a:alpha val="65000"/>
            </a:srgbClr>
          </a:solidFill>
          <a:ln w="12700">
            <a:solidFill>
              <a:srgbClr val="1F3147">
                <a:alpha val="0"/>
              </a:srgbClr>
            </a:solidFill>
            <a:prstDash val="solid"/>
          </a:ln>
        </p:spPr>
      </p:sp>
      <p:pic>
        <p:nvPicPr>
          <p:cNvPr id="4" name="Image 1" descr="C:/Project/RatPlain/art/sprites/title_art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1605039"/>
            <a:ext cx="5852160" cy="364792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21031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쥐 비행기 게임 (가제)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29718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5B8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컨셉 기획서</a:t>
            </a:r>
            <a:endParaRPr lang="en-US" sz="2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611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로그라이트 탑뷰 탄막 슈팅 · PC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257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8C4D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작성자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1280160" y="5257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정승운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55595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8C4D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작성일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280160" y="5559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2026.10.28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58613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8C4D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버전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1280160" y="58613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v1.0</a:t>
            </a:r>
            <a:endParaRPr lang="en-US" sz="1200" dirty="0"/>
          </a:p>
        </p:txBody>
      </p:sp>
      <p:sp>
        <p:nvSpPr>
          <p:cNvPr id="1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기획의도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7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원작 감성 그대로 가져가는 ip 확장 게임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65836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원작의 가볍고 캐쥬얼한 감성을 살린 ip 확장 게임</a:t>
            </a:r>
            <a:endParaRPr lang="en-US" sz="16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슈퍼맨 쥐, 과학자 쥐를 따 와서 ip 확장 시도. 본편과는 별개 게임, 캐릭터와 그림체만 공유</a:t>
            </a:r>
            <a:endParaRPr lang="en-US" sz="16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로그라이트형 탄막 슈팅. 한 판 5~8분, 판 안에서는 매번 다른 빌드, 판 밖에서는 기체 성장</a:t>
            </a:r>
            <a:endParaRPr lang="en-US" sz="16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규칙이 단순한 슈팅이라 캐릭터를 바로 조작하는 재미로 연결하기 쉬움. 반복 구조라 적은 콘텐츠로도 플레이 시간 확보</a:t>
            </a:r>
            <a:endParaRPr lang="en-US" sz="16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비행기 발전 순서대로 진화 → 모으는 재미 + 눈에 보이는 변화</a:t>
            </a:r>
            <a:endParaRPr lang="en-US" sz="1600" dirty="0"/>
          </a:p>
        </p:txBody>
      </p:sp>
      <p:sp>
        <p:nvSpPr>
          <p:cNvPr id="5" name="card"/>
          <p:cNvSpPr/>
          <p:nvPr/>
        </p:nvSpPr>
        <p:spPr>
          <a:xfrm>
            <a:off x="7406640" y="1783080"/>
            <a:ext cx="4236415" cy="4389120"/>
          </a:xfrm>
          <a:prstGeom prst="roundRect">
            <a:avLst>
              <a:gd name="adj" fmla="val 2158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pic>
        <p:nvPicPr>
          <p:cNvPr id="6" name="Image 0" descr="C:/Project/RatPlain/art/sprites/scientist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2386735"/>
            <a:ext cx="1706728" cy="2450291"/>
          </a:xfrm>
          <a:prstGeom prst="rect">
            <a:avLst/>
          </a:prstGeom>
        </p:spPr>
      </p:pic>
      <p:pic>
        <p:nvPicPr>
          <p:cNvPr id="7" name="Image 1" descr="C:/Project/RatPlain/art/sprites/player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2008" y="2717718"/>
            <a:ext cx="1706728" cy="178832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680960" y="5349240"/>
            <a:ext cx="1706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1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과학자 쥐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9662008" y="5349240"/>
            <a:ext cx="1706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1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슈퍼맨 쥐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7680960" y="5715000"/>
            <a:ext cx="1706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7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비행기 제작 담당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9662008" y="5715000"/>
            <a:ext cx="1706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7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조종 담당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원페이지 기획서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7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로그라이트 탑뷰 탄막 슈팅, PC 패키지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6035040" cy="9144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70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제목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1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30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쥐 비행기 게임 (가제)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장르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1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30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로그라이트 탑뷰 탄막 슈팅 (공중 도그 파이트)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플랫폼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1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30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PC (스팀), 키보드 + 마우스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BM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1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30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패키지 판매. 뽑기는 게임 내 재화로만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타겟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1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30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원작 팬, 캐쥬얼 슈팅 / 로그라이트 유저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레퍼런스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1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30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1942, 동방 프로젝트, Luftrausers, 하데스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볼륨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1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30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스테이지 10, 보스 10, 기체 16, 장비 224종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5" name="Image 0" descr="C:\Users\user\AppData\Local\Temp\claude\C--Users-user--claude-spares-spare-cMTDoQ\51d05372-0cc7-4dfa-9db6-7ff69ccb6c2d\scratchpad\shots/b7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783080"/>
            <a:ext cx="4785055" cy="269159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858000" y="4566114"/>
            <a:ext cx="4785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7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 데모 7스테이지 화산섬. 빨간 원 = 용암 분화 예고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6858000" y="5023314"/>
            <a:ext cx="4785055" cy="1148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스테이지 흐름: 바다 → 폭풍 → 설산 → 고양이 도시 → 성층권 → 사막 → 화산 → 밀림 → 하늘 요새 → 달 궤도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비행기도 복엽기 → 제트기 → 우주 요격기 순으로 변화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핵심 재미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7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재미 포인트 3가지</a:t>
            </a:r>
            <a:endParaRPr lang="en-US" sz="1400" dirty="0"/>
          </a:p>
        </p:txBody>
      </p:sp>
      <p:sp>
        <p:nvSpPr>
          <p:cNvPr id="4" name="card"/>
          <p:cNvSpPr/>
          <p:nvPr/>
        </p:nvSpPr>
        <p:spPr>
          <a:xfrm>
            <a:off x="548640" y="1783080"/>
            <a:ext cx="3515258" cy="4389120"/>
          </a:xfrm>
          <a:prstGeom prst="roundRect">
            <a:avLst>
              <a:gd name="adj" fmla="val 2601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sp>
        <p:nvSpPr>
          <p:cNvPr id="5" name="dot 1"/>
          <p:cNvSpPr/>
          <p:nvPr/>
        </p:nvSpPr>
        <p:spPr>
          <a:xfrm>
            <a:off x="822960" y="2057400"/>
            <a:ext cx="548640" cy="548640"/>
          </a:xfrm>
          <a:prstGeom prst="ellipse">
            <a:avLst/>
          </a:prstGeom>
          <a:solidFill>
            <a:srgbClr val="5B9FCF"/>
          </a:solidFill>
          <a:ln w="12700">
            <a:solidFill>
              <a:srgbClr val="5B9FC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pic>
        <p:nvPicPr>
          <p:cNvPr id="7" name="Image 0" descr="C:/Project/RatPlain/art/sprites/e_hawk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867" y="2788920"/>
            <a:ext cx="1354805" cy="19202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489204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31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컨트롤로 깨는 공중전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5394960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기체 성능이 낮아도 접근 / 이탈 판단과 회피로 클리어 가능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4338218" y="1783080"/>
            <a:ext cx="3515258" cy="4389120"/>
          </a:xfrm>
          <a:prstGeom prst="roundRect">
            <a:avLst>
              <a:gd name="adj" fmla="val 2601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sp>
        <p:nvSpPr>
          <p:cNvPr id="11" name="dot 2"/>
          <p:cNvSpPr/>
          <p:nvPr/>
        </p:nvSpPr>
        <p:spPr>
          <a:xfrm>
            <a:off x="4612538" y="2057400"/>
            <a:ext cx="548640" cy="548640"/>
          </a:xfrm>
          <a:prstGeom prst="ellipse">
            <a:avLst/>
          </a:prstGeom>
          <a:solidFill>
            <a:srgbClr val="E0533A"/>
          </a:solidFill>
          <a:ln w="12700">
            <a:solidFill>
              <a:srgbClr val="E0533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612538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pic>
        <p:nvPicPr>
          <p:cNvPr id="13" name="Image 1" descr="C:/Project/RatPlain/art/sprites/player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9535" y="2788920"/>
            <a:ext cx="1832624" cy="19202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612538" y="489204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31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쏠지 말지 고민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4612538" y="5394960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사격 중에는 체력 회복 없음. 공격 타이밍 자체가 선택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8127797" y="1783080"/>
            <a:ext cx="3515258" cy="4389120"/>
          </a:xfrm>
          <a:prstGeom prst="roundRect">
            <a:avLst>
              <a:gd name="adj" fmla="val 2601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sp>
        <p:nvSpPr>
          <p:cNvPr id="17" name="dot 3"/>
          <p:cNvSpPr/>
          <p:nvPr/>
        </p:nvSpPr>
        <p:spPr>
          <a:xfrm>
            <a:off x="8402117" y="2057400"/>
            <a:ext cx="548640" cy="548640"/>
          </a:xfrm>
          <a:prstGeom prst="ellipse">
            <a:avLst/>
          </a:prstGeom>
          <a:solidFill>
            <a:srgbClr val="F5B82E"/>
          </a:solidFill>
          <a:ln w="12700">
            <a:solidFill>
              <a:srgbClr val="F5B82E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402117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pic>
        <p:nvPicPr>
          <p:cNvPr id="19" name="Image 2" descr="C:/Project/RatPlain/art/sprites/player_stealth_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444" y="2788920"/>
            <a:ext cx="2031963" cy="192024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402117" y="489204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31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매번 다른 비행기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8402117" y="5394960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 안에서는 현장 개조로 빌드 변화, 판 밖에서는 기체와 장비 누적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게임 루프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7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 안 / 판 밖 두 개의 루프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B9FC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 안 (출격 1회, 5~8분)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548640" y="2240280"/>
            <a:ext cx="1736080" cy="1005840"/>
          </a:xfrm>
          <a:prstGeom prst="roundRect">
            <a:avLst>
              <a:gd name="adj" fmla="val 9091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240280"/>
            <a:ext cx="173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1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웨이브 전투</a:t>
            </a:r>
            <a:endParaRPr lang="en-US" sz="1400" dirty="0"/>
          </a:p>
        </p:txBody>
      </p:sp>
      <p:sp>
        <p:nvSpPr>
          <p:cNvPr id="7" name="arrow"/>
          <p:cNvSpPr/>
          <p:nvPr/>
        </p:nvSpPr>
        <p:spPr>
          <a:xfrm>
            <a:off x="2421880" y="2606040"/>
            <a:ext cx="329184" cy="274320"/>
          </a:xfrm>
          <a:prstGeom prst="rightArrow">
            <a:avLst/>
          </a:prstGeom>
          <a:solidFill>
            <a:srgbClr val="6B7785"/>
          </a:solidFill>
          <a:ln w="12700">
            <a:solidFill>
              <a:srgbClr val="6B7785"/>
            </a:solidFill>
            <a:prstDash val="solid"/>
          </a:ln>
        </p:spPr>
      </p:sp>
      <p:sp>
        <p:nvSpPr>
          <p:cNvPr id="8" name="card"/>
          <p:cNvSpPr/>
          <p:nvPr/>
        </p:nvSpPr>
        <p:spPr>
          <a:xfrm>
            <a:off x="2888224" y="2240280"/>
            <a:ext cx="1736080" cy="1005840"/>
          </a:xfrm>
          <a:prstGeom prst="roundRect">
            <a:avLst>
              <a:gd name="adj" fmla="val 9091"/>
            </a:avLst>
          </a:prstGeom>
          <a:solidFill>
            <a:srgbClr val="F5B82E"/>
          </a:solidFill>
          <a:ln w="12700">
            <a:solidFill>
              <a:srgbClr val="F5B8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88224" y="2240280"/>
            <a:ext cx="173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1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개조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F31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 중 1개</a:t>
            </a:r>
            <a:endParaRPr lang="en-US" sz="1400" dirty="0"/>
          </a:p>
        </p:txBody>
      </p:sp>
      <p:sp>
        <p:nvSpPr>
          <p:cNvPr id="10" name="arrow"/>
          <p:cNvSpPr/>
          <p:nvPr/>
        </p:nvSpPr>
        <p:spPr>
          <a:xfrm>
            <a:off x="4761464" y="2606040"/>
            <a:ext cx="329184" cy="274320"/>
          </a:xfrm>
          <a:prstGeom prst="rightArrow">
            <a:avLst/>
          </a:prstGeom>
          <a:solidFill>
            <a:srgbClr val="6B7785"/>
          </a:solidFill>
          <a:ln w="12700">
            <a:solidFill>
              <a:srgbClr val="6B7785"/>
            </a:solidFill>
            <a:prstDash val="solid"/>
          </a:ln>
        </p:spPr>
      </p:sp>
      <p:sp>
        <p:nvSpPr>
          <p:cNvPr id="11" name="card"/>
          <p:cNvSpPr/>
          <p:nvPr/>
        </p:nvSpPr>
        <p:spPr>
          <a:xfrm>
            <a:off x="5227808" y="2240280"/>
            <a:ext cx="1736080" cy="1005840"/>
          </a:xfrm>
          <a:prstGeom prst="roundRect">
            <a:avLst>
              <a:gd name="adj" fmla="val 9091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27808" y="2240280"/>
            <a:ext cx="173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1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웨이브</a:t>
            </a:r>
            <a:endParaRPr lang="en-US" sz="1400" dirty="0"/>
          </a:p>
        </p:txBody>
      </p:sp>
      <p:sp>
        <p:nvSpPr>
          <p:cNvPr id="13" name="arrow"/>
          <p:cNvSpPr/>
          <p:nvPr/>
        </p:nvSpPr>
        <p:spPr>
          <a:xfrm>
            <a:off x="7101048" y="2606040"/>
            <a:ext cx="329184" cy="274320"/>
          </a:xfrm>
          <a:prstGeom prst="rightArrow">
            <a:avLst/>
          </a:prstGeom>
          <a:solidFill>
            <a:srgbClr val="6B7785"/>
          </a:solidFill>
          <a:ln w="12700">
            <a:solidFill>
              <a:srgbClr val="6B7785"/>
            </a:solidFill>
            <a:prstDash val="solid"/>
          </a:ln>
        </p:spPr>
      </p:sp>
      <p:sp>
        <p:nvSpPr>
          <p:cNvPr id="14" name="card"/>
          <p:cNvSpPr/>
          <p:nvPr/>
        </p:nvSpPr>
        <p:spPr>
          <a:xfrm>
            <a:off x="7567392" y="2240280"/>
            <a:ext cx="1736080" cy="1005840"/>
          </a:xfrm>
          <a:prstGeom prst="roundRect">
            <a:avLst>
              <a:gd name="adj" fmla="val 9091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67392" y="2240280"/>
            <a:ext cx="173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1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보스</a:t>
            </a:r>
            <a:endParaRPr lang="en-US" sz="1400" dirty="0"/>
          </a:p>
        </p:txBody>
      </p:sp>
      <p:sp>
        <p:nvSpPr>
          <p:cNvPr id="16" name="arrow"/>
          <p:cNvSpPr/>
          <p:nvPr/>
        </p:nvSpPr>
        <p:spPr>
          <a:xfrm>
            <a:off x="9440631" y="2606040"/>
            <a:ext cx="329184" cy="274320"/>
          </a:xfrm>
          <a:prstGeom prst="rightArrow">
            <a:avLst/>
          </a:prstGeom>
          <a:solidFill>
            <a:srgbClr val="6B7785"/>
          </a:solidFill>
          <a:ln w="12700">
            <a:solidFill>
              <a:srgbClr val="6B7785"/>
            </a:solidFill>
            <a:prstDash val="solid"/>
          </a:ln>
        </p:spPr>
      </p:sp>
      <p:sp>
        <p:nvSpPr>
          <p:cNvPr id="17" name="card"/>
          <p:cNvSpPr/>
          <p:nvPr/>
        </p:nvSpPr>
        <p:spPr>
          <a:xfrm>
            <a:off x="9906975" y="2240280"/>
            <a:ext cx="1736080" cy="1005840"/>
          </a:xfrm>
          <a:prstGeom prst="roundRect">
            <a:avLst>
              <a:gd name="adj" fmla="val 9091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906975" y="2240280"/>
            <a:ext cx="173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1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클리어 보상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520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053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 밖 (격납고)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548640" y="3977640"/>
            <a:ext cx="2320976" cy="1005840"/>
          </a:xfrm>
          <a:prstGeom prst="roundRect">
            <a:avLst>
              <a:gd name="adj" fmla="val 9091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3977640"/>
            <a:ext cx="23209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1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재료 / 치즈 코인</a:t>
            </a:r>
            <a:endParaRPr lang="en-US" sz="1400" dirty="0"/>
          </a:p>
        </p:txBody>
      </p:sp>
      <p:sp>
        <p:nvSpPr>
          <p:cNvPr id="22" name="arrow"/>
          <p:cNvSpPr/>
          <p:nvPr/>
        </p:nvSpPr>
        <p:spPr>
          <a:xfrm>
            <a:off x="3006776" y="4343400"/>
            <a:ext cx="329184" cy="274320"/>
          </a:xfrm>
          <a:prstGeom prst="rightArrow">
            <a:avLst/>
          </a:prstGeom>
          <a:solidFill>
            <a:srgbClr val="6B7785"/>
          </a:solidFill>
          <a:ln w="12700">
            <a:solidFill>
              <a:srgbClr val="6B7785"/>
            </a:solidFill>
            <a:prstDash val="solid"/>
          </a:ln>
        </p:spPr>
      </p:sp>
      <p:sp>
        <p:nvSpPr>
          <p:cNvPr id="23" name="card"/>
          <p:cNvSpPr/>
          <p:nvPr/>
        </p:nvSpPr>
        <p:spPr>
          <a:xfrm>
            <a:off x="3473120" y="3977640"/>
            <a:ext cx="2320976" cy="1005840"/>
          </a:xfrm>
          <a:prstGeom prst="roundRect">
            <a:avLst>
              <a:gd name="adj" fmla="val 9091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73120" y="3977640"/>
            <a:ext cx="23209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1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기체 구매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F31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의뢰 · 합성</a:t>
            </a:r>
            <a:endParaRPr lang="en-US" sz="1400" dirty="0"/>
          </a:p>
        </p:txBody>
      </p:sp>
      <p:sp>
        <p:nvSpPr>
          <p:cNvPr id="25" name="arrow"/>
          <p:cNvSpPr/>
          <p:nvPr/>
        </p:nvSpPr>
        <p:spPr>
          <a:xfrm>
            <a:off x="5931256" y="4343400"/>
            <a:ext cx="329184" cy="274320"/>
          </a:xfrm>
          <a:prstGeom prst="rightArrow">
            <a:avLst/>
          </a:prstGeom>
          <a:solidFill>
            <a:srgbClr val="6B7785"/>
          </a:solidFill>
          <a:ln w="12700">
            <a:solidFill>
              <a:srgbClr val="6B7785"/>
            </a:solidFill>
            <a:prstDash val="solid"/>
          </a:ln>
        </p:spPr>
      </p:sp>
      <p:sp>
        <p:nvSpPr>
          <p:cNvPr id="26" name="card"/>
          <p:cNvSpPr/>
          <p:nvPr/>
        </p:nvSpPr>
        <p:spPr>
          <a:xfrm>
            <a:off x="6397600" y="3977640"/>
            <a:ext cx="2320976" cy="1005840"/>
          </a:xfrm>
          <a:prstGeom prst="roundRect">
            <a:avLst>
              <a:gd name="adj" fmla="val 9091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97600" y="3977640"/>
            <a:ext cx="23209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1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맵에 맞는 기체 선택</a:t>
            </a:r>
            <a:endParaRPr lang="en-US" sz="1400" dirty="0"/>
          </a:p>
        </p:txBody>
      </p:sp>
      <p:sp>
        <p:nvSpPr>
          <p:cNvPr id="28" name="arrow"/>
          <p:cNvSpPr/>
          <p:nvPr/>
        </p:nvSpPr>
        <p:spPr>
          <a:xfrm>
            <a:off x="8855735" y="4343400"/>
            <a:ext cx="329184" cy="274320"/>
          </a:xfrm>
          <a:prstGeom prst="rightArrow">
            <a:avLst/>
          </a:prstGeom>
          <a:solidFill>
            <a:srgbClr val="6B7785"/>
          </a:solidFill>
          <a:ln w="12700">
            <a:solidFill>
              <a:srgbClr val="6B7785"/>
            </a:solidFill>
            <a:prstDash val="solid"/>
          </a:ln>
        </p:spPr>
      </p:sp>
      <p:sp>
        <p:nvSpPr>
          <p:cNvPr id="29" name="card"/>
          <p:cNvSpPr/>
          <p:nvPr/>
        </p:nvSpPr>
        <p:spPr>
          <a:xfrm>
            <a:off x="9322079" y="3977640"/>
            <a:ext cx="2320976" cy="1005840"/>
          </a:xfrm>
          <a:prstGeom prst="roundRect">
            <a:avLst>
              <a:gd name="adj" fmla="val 9091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322079" y="3977640"/>
            <a:ext cx="23209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1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재출격</a:t>
            </a:r>
            <a:endParaRPr lang="en-US" sz="1400" dirty="0"/>
          </a:p>
        </p:txBody>
      </p:sp>
      <p:sp>
        <p:nvSpPr>
          <p:cNvPr id="31" name="card"/>
          <p:cNvSpPr/>
          <p:nvPr/>
        </p:nvSpPr>
        <p:spPr>
          <a:xfrm>
            <a:off x="548640" y="5349240"/>
            <a:ext cx="11094415" cy="822960"/>
          </a:xfrm>
          <a:prstGeom prst="roundRect">
            <a:avLst>
              <a:gd name="adj" fmla="val 11111"/>
            </a:avLst>
          </a:prstGeom>
          <a:solidFill>
            <a:srgbClr val="FDF1D6"/>
          </a:solidFill>
          <a:ln w="12700">
            <a:solidFill>
              <a:srgbClr val="FDF1D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2960" y="53492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추락해도 모은 재료 절반 회수. 다시 출격할 이유 유지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비행 / 조작, 체력 / 부스트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7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항상 앞으로 나는 비행 + 사격과 회복 사이의 선택</a:t>
            </a:r>
            <a:endParaRPr lang="en-US" sz="1400" dirty="0"/>
          </a:p>
        </p:txBody>
      </p:sp>
      <p:pic>
        <p:nvPicPr>
          <p:cNvPr id="4" name="Image 0" descr="C:\Users\user\AppData\Local\Temp\claude\C--Users-user--claude-spares-spare-cMTDoQ\51d05372-0cc7-4dfa-9db6-7ff69ccb6c2d\scratchpad\shots/battl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5669280" cy="318897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06349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7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1스테이지. 바다 위 그림자, 위로 지나가는 구름으로 높이감 표현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474970"/>
            <a:ext cx="5669280" cy="697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탑뷰 360도 자유 비행, 비행기는 항상 전진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WASD = 진행 방향, 마우스 = 조준, 좌클릭 = 사격, 스페이스 = 부스트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6492240" y="1783080"/>
            <a:ext cx="5150815" cy="2057400"/>
          </a:xfrm>
          <a:prstGeom prst="roundRect">
            <a:avLst>
              <a:gd name="adj" fmla="val 4444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766560" y="2057400"/>
            <a:ext cx="46021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E053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체력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766560" y="2560320"/>
            <a:ext cx="46021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피격 시 감소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사격 중지 1.4초 후부터 초당 14 회복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공격과 생존 사이 선택 발생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6492240" y="4114800"/>
            <a:ext cx="5150815" cy="2057400"/>
          </a:xfrm>
          <a:prstGeom prst="roundRect">
            <a:avLst>
              <a:gd name="adj" fmla="val 4444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766560" y="4389120"/>
            <a:ext cx="46021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5B9FC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부스트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766560" y="4892040"/>
            <a:ext cx="46021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게이지 2.2초 분량, 사용 후 자동 충전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위기 탈출, 급접근 용도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장비에 따라 충격파 / 폭탄 투하 효과 추가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몬스터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7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 방향 예측 사격, 강한 공격은 반드시 사전 예고. 접근이 안전한 적과 이탈이 안전한 적 혼합</a:t>
            </a:r>
            <a:endParaRPr lang="en-US" sz="1400" dirty="0"/>
          </a:p>
        </p:txBody>
      </p:sp>
      <p:sp>
        <p:nvSpPr>
          <p:cNvPr id="4" name="하늘 고양이"/>
          <p:cNvSpPr/>
          <p:nvPr/>
        </p:nvSpPr>
        <p:spPr>
          <a:xfrm>
            <a:off x="548640" y="1783080"/>
            <a:ext cx="5410048" cy="1280160"/>
          </a:xfrm>
          <a:prstGeom prst="roundRect">
            <a:avLst>
              <a:gd name="adj" fmla="val 7143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pic>
        <p:nvPicPr>
          <p:cNvPr id="5" name="Image 0" descr="C:/Project/RatPlain/art/sprites/e_cat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046539"/>
            <a:ext cx="914400" cy="75324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011680" y="1892808"/>
            <a:ext cx="367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31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하늘 고양이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2011680" y="2304288"/>
            <a:ext cx="367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앞질러 겨냥한 3연발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2011680" y="2624328"/>
            <a:ext cx="367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053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대처: 진행 방향 꺾어 회피</a:t>
            </a:r>
            <a:endParaRPr lang="en-US" sz="1400" dirty="0"/>
          </a:p>
        </p:txBody>
      </p:sp>
      <p:sp>
        <p:nvSpPr>
          <p:cNvPr id="9" name="매"/>
          <p:cNvSpPr/>
          <p:nvPr/>
        </p:nvSpPr>
        <p:spPr>
          <a:xfrm>
            <a:off x="6233008" y="1783080"/>
            <a:ext cx="5410048" cy="1280160"/>
          </a:xfrm>
          <a:prstGeom prst="roundRect">
            <a:avLst>
              <a:gd name="adj" fmla="val 7143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pic>
        <p:nvPicPr>
          <p:cNvPr id="10" name="Image 1" descr="C:/Project/RatPlain/art/sprites/e_hawk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9698" y="1920240"/>
            <a:ext cx="709660" cy="10058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696048" y="1892808"/>
            <a:ext cx="367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31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7696048" y="2304288"/>
            <a:ext cx="367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선회 후 예고, 급강하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696048" y="2624328"/>
            <a:ext cx="367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053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대처: 예고 지점 이탈 후 반격</a:t>
            </a:r>
            <a:endParaRPr lang="en-US" sz="1400" dirty="0"/>
          </a:p>
        </p:txBody>
      </p:sp>
      <p:sp>
        <p:nvSpPr>
          <p:cNvPr id="14" name="제비"/>
          <p:cNvSpPr/>
          <p:nvPr/>
        </p:nvSpPr>
        <p:spPr>
          <a:xfrm>
            <a:off x="548640" y="3337560"/>
            <a:ext cx="5410048" cy="1280160"/>
          </a:xfrm>
          <a:prstGeom prst="roundRect">
            <a:avLst>
              <a:gd name="adj" fmla="val 7143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pic>
        <p:nvPicPr>
          <p:cNvPr id="15" name="Image 2" descr="C:/Project/RatPlain/art/sprites/e_swift_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780" y="3474720"/>
            <a:ext cx="796761" cy="10058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2011680" y="3447288"/>
            <a:ext cx="367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31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제비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2011680" y="3858768"/>
            <a:ext cx="367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지그재그로 스치며 2발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2011680" y="4178808"/>
            <a:ext cx="367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053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대처: 통과 후 추격</a:t>
            </a:r>
            <a:endParaRPr lang="en-US" sz="1400" dirty="0"/>
          </a:p>
        </p:txBody>
      </p:sp>
      <p:sp>
        <p:nvSpPr>
          <p:cNvPr id="19" name="폭격 고양이"/>
          <p:cNvSpPr/>
          <p:nvPr/>
        </p:nvSpPr>
        <p:spPr>
          <a:xfrm>
            <a:off x="6233008" y="3337560"/>
            <a:ext cx="5410048" cy="1280160"/>
          </a:xfrm>
          <a:prstGeom prst="roundRect">
            <a:avLst>
              <a:gd name="adj" fmla="val 7143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pic>
        <p:nvPicPr>
          <p:cNvPr id="20" name="Image 3" descr="C:/Project/RatPlain/art/sprites/e_bomber_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7328" y="3499245"/>
            <a:ext cx="914400" cy="956789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696048" y="3447288"/>
            <a:ext cx="367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31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폭격 고양이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7696048" y="3858768"/>
            <a:ext cx="367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느리고 단단함, 원형탄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7696048" y="4178808"/>
            <a:ext cx="367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053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대처: 원형탄 틈으로 접근</a:t>
            </a:r>
            <a:endParaRPr lang="en-US" sz="1400" dirty="0"/>
          </a:p>
        </p:txBody>
      </p:sp>
      <p:sp>
        <p:nvSpPr>
          <p:cNvPr id="24" name="고양이 드론"/>
          <p:cNvSpPr/>
          <p:nvPr/>
        </p:nvSpPr>
        <p:spPr>
          <a:xfrm>
            <a:off x="548640" y="4892040"/>
            <a:ext cx="5410048" cy="1280160"/>
          </a:xfrm>
          <a:prstGeom prst="roundRect">
            <a:avLst>
              <a:gd name="adj" fmla="val 7143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pic>
        <p:nvPicPr>
          <p:cNvPr id="25" name="Image 4" descr="C:/Project/RatPlain/art/sprites/e_drone_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5071767"/>
            <a:ext cx="914400" cy="92070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2011680" y="5001768"/>
            <a:ext cx="367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31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고양이 드론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2011680" y="5413248"/>
            <a:ext cx="367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떼로 접근 후 깜빡임 → 자폭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2011680" y="5733288"/>
            <a:ext cx="367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053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대처: 깜빡임 시 부스트로 이탈</a:t>
            </a:r>
            <a:endParaRPr lang="en-US" sz="1400" dirty="0"/>
          </a:p>
        </p:txBody>
      </p:sp>
      <p:sp>
        <p:nvSpPr>
          <p:cNvPr id="29" name="장갑 포함"/>
          <p:cNvSpPr/>
          <p:nvPr/>
        </p:nvSpPr>
        <p:spPr>
          <a:xfrm>
            <a:off x="6233008" y="4892040"/>
            <a:ext cx="5410048" cy="1280160"/>
          </a:xfrm>
          <a:prstGeom prst="roundRect">
            <a:avLst>
              <a:gd name="adj" fmla="val 7143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pic>
        <p:nvPicPr>
          <p:cNvPr id="30" name="Image 5" descr="C:/Project/RatPlain/art/sprites/e_gunship_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7328" y="5081604"/>
            <a:ext cx="914400" cy="90103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696048" y="5001768"/>
            <a:ext cx="367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31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장갑 포함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7696048" y="5413248"/>
            <a:ext cx="367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주무장 피해 70% 감소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7696048" y="5733288"/>
            <a:ext cx="367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053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대처: 폭탄 / 관통 장비, 폭격기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스테이지 / 보스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7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스테이지 10개, 보스 10종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7680960" cy="9144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9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#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1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스테이지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1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보스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1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패턴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1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맵 특성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1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바다 위 하늘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고양이 비행선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대포 → 나선 탄막 → 원형탄 + 졸개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폭풍 구름 위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천둥 독수리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깃털 부채 → 번개 → 급강하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9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눈 덮인 산맥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눈보라 부엉이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이중 나선 → 유도 얼음 → 얼음 벽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9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고양이 도시의 밤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고양이 공중 전함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포탑 4문 → 측면 사격 → 주포 광선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9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성층권 너머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고양이 대왕 로켓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체력 3구간 복합 패턴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9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모래바람 사막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모래폭풍 콘도르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깃털 부채 → 모래 회오리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모래폭풍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9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불타는 화산섬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용암 불사조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불꽃 고리 → 화염 돌진, 1회 부활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분화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9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안개 낀 밀림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밀림 하피 독수리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사라진 뒤 화면 밖 기습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안개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9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고양이 하늘 요새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고양이 하늘 항모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드론 발진 → 유도 미사일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대공포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9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달 궤도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고양이 황제 모선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체력 3구간, 회전 광선 / 유성우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무중력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5" name="Image 0" descr="C:\Users\user\AppData\Local\Temp\claude\C--Users-user--claude-spares-spare-cMTDoQ\51d05372-0cc7-4dfa-9db6-7ff69ccb6c2d\scratchpad\shots/b4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783080"/>
            <a:ext cx="3139135" cy="176576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503920" y="3640284"/>
            <a:ext cx="3139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7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4스테이지 전함 주포 광선. 예고선이 진해진 뒤 발사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8503920" y="4280364"/>
            <a:ext cx="3139135" cy="1891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스테이지 구성: 웨이브 3~4개 + 보스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보스 체력 절반부터 속도 증가, 졸개 소환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패턴 전환 시 화면 상단 예고 문구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맵 특성 → 기체 갈래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7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6스테이지부터 맵 특성 등장. 기체 하나만으로는 한계 → 여러 갈래 기체 육성 유도</a:t>
            </a:r>
            <a:endParaRPr lang="en-US" sz="1400" dirty="0"/>
          </a:p>
        </p:txBody>
      </p:sp>
      <p:sp>
        <p:nvSpPr>
          <p:cNvPr id="4" name="모래폭풍"/>
          <p:cNvSpPr/>
          <p:nvPr/>
        </p:nvSpPr>
        <p:spPr>
          <a:xfrm>
            <a:off x="548640" y="1783080"/>
            <a:ext cx="1999427" cy="4389120"/>
          </a:xfrm>
          <a:prstGeom prst="roundRect">
            <a:avLst>
              <a:gd name="adj" fmla="val 4573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57400"/>
            <a:ext cx="145078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7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 사막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145078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31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모래폭풍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80360"/>
            <a:ext cx="145078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바람에 밀림, 가벼운 기체일수록 크게</a:t>
            </a:r>
            <a:endParaRPr lang="en-US" sz="1400" dirty="0"/>
          </a:p>
        </p:txBody>
      </p:sp>
      <p:pic>
        <p:nvPicPr>
          <p:cNvPr id="8" name="Image 0" descr="C:/Project/RatPlain/art/sprites/player_fort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053" y="3886200"/>
            <a:ext cx="1446601" cy="1463040"/>
          </a:xfrm>
          <a:prstGeom prst="rect">
            <a:avLst/>
          </a:prstGeom>
        </p:spPr>
      </p:pic>
      <p:sp>
        <p:nvSpPr>
          <p:cNvPr id="9" name="pill 폭격기 유리"/>
          <p:cNvSpPr/>
          <p:nvPr/>
        </p:nvSpPr>
        <p:spPr>
          <a:xfrm>
            <a:off x="822960" y="5513832"/>
            <a:ext cx="1450787" cy="384048"/>
          </a:xfrm>
          <a:prstGeom prst="roundRect">
            <a:avLst>
              <a:gd name="adj" fmla="val 50000"/>
            </a:avLst>
          </a:prstGeom>
          <a:solidFill>
            <a:srgbClr val="E0533A"/>
          </a:solidFill>
          <a:ln w="12700">
            <a:solidFill>
              <a:srgbClr val="E053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5513832"/>
            <a:ext cx="145078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폭격기 유리</a:t>
            </a:r>
            <a:endParaRPr lang="en-US" sz="1300" dirty="0"/>
          </a:p>
        </p:txBody>
      </p:sp>
      <p:sp>
        <p:nvSpPr>
          <p:cNvPr id="11" name="분화"/>
          <p:cNvSpPr/>
          <p:nvPr/>
        </p:nvSpPr>
        <p:spPr>
          <a:xfrm>
            <a:off x="2822387" y="1783080"/>
            <a:ext cx="1999427" cy="4389120"/>
          </a:xfrm>
          <a:prstGeom prst="roundRect">
            <a:avLst>
              <a:gd name="adj" fmla="val 4573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096707" y="2057400"/>
            <a:ext cx="145078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7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 화산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3096707" y="2377440"/>
            <a:ext cx="145078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31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분화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3096707" y="2880360"/>
            <a:ext cx="145078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빨간 원이 진해지면 용암 분출</a:t>
            </a:r>
            <a:endParaRPr lang="en-US" sz="1400" dirty="0"/>
          </a:p>
        </p:txBody>
      </p:sp>
      <p:pic>
        <p:nvPicPr>
          <p:cNvPr id="15" name="Image 1" descr="C:/Project/RatPlain/art/sprites/player_jet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6707" y="3932787"/>
            <a:ext cx="1450787" cy="1369867"/>
          </a:xfrm>
          <a:prstGeom prst="rect">
            <a:avLst/>
          </a:prstGeom>
        </p:spPr>
      </p:pic>
      <p:sp>
        <p:nvSpPr>
          <p:cNvPr id="16" name="pill 전투기 유리"/>
          <p:cNvSpPr/>
          <p:nvPr/>
        </p:nvSpPr>
        <p:spPr>
          <a:xfrm>
            <a:off x="3096707" y="5513832"/>
            <a:ext cx="1450787" cy="384048"/>
          </a:xfrm>
          <a:prstGeom prst="roundRect">
            <a:avLst>
              <a:gd name="adj" fmla="val 50000"/>
            </a:avLst>
          </a:prstGeom>
          <a:solidFill>
            <a:srgbClr val="5B9FCF"/>
          </a:solidFill>
          <a:ln w="12700">
            <a:solidFill>
              <a:srgbClr val="5B9FC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3096707" y="5513832"/>
            <a:ext cx="145078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전투기 유리</a:t>
            </a:r>
            <a:endParaRPr lang="en-US" sz="1300" dirty="0"/>
          </a:p>
        </p:txBody>
      </p:sp>
      <p:sp>
        <p:nvSpPr>
          <p:cNvPr id="18" name="안개"/>
          <p:cNvSpPr/>
          <p:nvPr/>
        </p:nvSpPr>
        <p:spPr>
          <a:xfrm>
            <a:off x="5096134" y="1783080"/>
            <a:ext cx="1999427" cy="4389120"/>
          </a:xfrm>
          <a:prstGeom prst="roundRect">
            <a:avLst>
              <a:gd name="adj" fmla="val 4573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370454" y="2057400"/>
            <a:ext cx="145078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7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 밀림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5370454" y="2377440"/>
            <a:ext cx="145078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31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안개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5370454" y="2880360"/>
            <a:ext cx="145078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시야 밖 비표시, 레이더로 시야 확장</a:t>
            </a:r>
            <a:endParaRPr lang="en-US" sz="1400" dirty="0"/>
          </a:p>
        </p:txBody>
      </p:sp>
      <p:pic>
        <p:nvPicPr>
          <p:cNvPr id="22" name="Image 2" descr="C:/Project/RatPlain/art/sprites/player_drone_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0454" y="3897130"/>
            <a:ext cx="1450787" cy="1441179"/>
          </a:xfrm>
          <a:prstGeom prst="rect">
            <a:avLst/>
          </a:prstGeom>
        </p:spPr>
      </p:pic>
      <p:sp>
        <p:nvSpPr>
          <p:cNvPr id="23" name="pill 다목적기 유리"/>
          <p:cNvSpPr/>
          <p:nvPr/>
        </p:nvSpPr>
        <p:spPr>
          <a:xfrm>
            <a:off x="5370454" y="5513832"/>
            <a:ext cx="1450787" cy="384048"/>
          </a:xfrm>
          <a:prstGeom prst="roundRect">
            <a:avLst>
              <a:gd name="adj" fmla="val 50000"/>
            </a:avLst>
          </a:prstGeom>
          <a:solidFill>
            <a:srgbClr val="F5B82E"/>
          </a:solidFill>
          <a:ln w="12700">
            <a:solidFill>
              <a:srgbClr val="F5B82E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5370454" y="5513832"/>
            <a:ext cx="145078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다목적기 유리</a:t>
            </a:r>
            <a:endParaRPr lang="en-US" sz="1300" dirty="0"/>
          </a:p>
        </p:txBody>
      </p:sp>
      <p:sp>
        <p:nvSpPr>
          <p:cNvPr id="25" name="대공포"/>
          <p:cNvSpPr/>
          <p:nvPr/>
        </p:nvSpPr>
        <p:spPr>
          <a:xfrm>
            <a:off x="7369881" y="1783080"/>
            <a:ext cx="1999427" cy="4389120"/>
          </a:xfrm>
          <a:prstGeom prst="roundRect">
            <a:avLst>
              <a:gd name="adj" fmla="val 4573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7644201" y="2057400"/>
            <a:ext cx="145078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7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 요새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7644201" y="2377440"/>
            <a:ext cx="145078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31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대공포</a:t>
            </a:r>
            <a:endParaRPr lang="en-US" sz="1800" dirty="0"/>
          </a:p>
        </p:txBody>
      </p:sp>
      <p:sp>
        <p:nvSpPr>
          <p:cNvPr id="28" name="Text 23"/>
          <p:cNvSpPr txBox="1"/>
          <p:nvPr/>
        </p:nvSpPr>
        <p:spPr>
          <a:xfrm>
            <a:off x="7644201" y="2880360"/>
            <a:ext cx="145078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대공포 상시 사격, 장갑 포함 다수</a:t>
            </a:r>
            <a:endParaRPr lang="en-US" sz="1400" dirty="0"/>
          </a:p>
        </p:txBody>
      </p:sp>
      <p:pic>
        <p:nvPicPr>
          <p:cNvPr id="29" name="Image 3" descr="C:/Project/RatPlain/art/sprites/player_flywing_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3056" y="3886200"/>
            <a:ext cx="1273078" cy="1463040"/>
          </a:xfrm>
          <a:prstGeom prst="rect">
            <a:avLst/>
          </a:prstGeom>
        </p:spPr>
      </p:pic>
      <p:sp>
        <p:nvSpPr>
          <p:cNvPr id="30" name="pill 폭격기 유리"/>
          <p:cNvSpPr/>
          <p:nvPr/>
        </p:nvSpPr>
        <p:spPr>
          <a:xfrm>
            <a:off x="7644201" y="5513832"/>
            <a:ext cx="1450787" cy="384048"/>
          </a:xfrm>
          <a:prstGeom prst="roundRect">
            <a:avLst>
              <a:gd name="adj" fmla="val 50000"/>
            </a:avLst>
          </a:prstGeom>
          <a:solidFill>
            <a:srgbClr val="E0533A"/>
          </a:solidFill>
          <a:ln w="12700">
            <a:solidFill>
              <a:srgbClr val="E0533A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7644201" y="5513832"/>
            <a:ext cx="145078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폭격기 유리</a:t>
            </a:r>
            <a:endParaRPr lang="en-US" sz="1300" dirty="0"/>
          </a:p>
        </p:txBody>
      </p:sp>
      <p:sp>
        <p:nvSpPr>
          <p:cNvPr id="32" name="무중력"/>
          <p:cNvSpPr/>
          <p:nvPr/>
        </p:nvSpPr>
        <p:spPr>
          <a:xfrm>
            <a:off x="9643628" y="1783080"/>
            <a:ext cx="1999427" cy="4389120"/>
          </a:xfrm>
          <a:prstGeom prst="roundRect">
            <a:avLst>
              <a:gd name="adj" fmla="val 4573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9917948" y="2057400"/>
            <a:ext cx="145078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7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 달</a:t>
            </a:r>
            <a:endParaRPr lang="en-US" sz="1100" dirty="0"/>
          </a:p>
        </p:txBody>
      </p:sp>
      <p:sp>
        <p:nvSpPr>
          <p:cNvPr id="34" name="Text 28"/>
          <p:cNvSpPr txBox="1"/>
          <p:nvPr/>
        </p:nvSpPr>
        <p:spPr>
          <a:xfrm>
            <a:off x="9917948" y="2377440"/>
            <a:ext cx="145078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31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무중력</a:t>
            </a:r>
            <a:endParaRPr lang="en-US" sz="1800" dirty="0"/>
          </a:p>
        </p:txBody>
      </p:sp>
      <p:sp>
        <p:nvSpPr>
          <p:cNvPr id="35" name="Text 29"/>
          <p:cNvSpPr txBox="1"/>
          <p:nvPr/>
        </p:nvSpPr>
        <p:spPr>
          <a:xfrm>
            <a:off x="9917948" y="2880360"/>
            <a:ext cx="145078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관성으로 미끄러짐, 유성 낙하</a:t>
            </a:r>
            <a:endParaRPr lang="en-US" sz="1400" dirty="0"/>
          </a:p>
        </p:txBody>
      </p:sp>
      <p:pic>
        <p:nvPicPr>
          <p:cNvPr id="36" name="Image 4" descr="C:/Project/RatPlain/art/sprites/player_orbiter_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17948" y="3925954"/>
            <a:ext cx="1450787" cy="1383532"/>
          </a:xfrm>
          <a:prstGeom prst="rect">
            <a:avLst/>
          </a:prstGeom>
        </p:spPr>
      </p:pic>
      <p:sp>
        <p:nvSpPr>
          <p:cNvPr id="37" name="pill 5단계 유리"/>
          <p:cNvSpPr/>
          <p:nvPr/>
        </p:nvSpPr>
        <p:spPr>
          <a:xfrm>
            <a:off x="9917948" y="5513832"/>
            <a:ext cx="1450787" cy="384048"/>
          </a:xfrm>
          <a:prstGeom prst="roundRect">
            <a:avLst>
              <a:gd name="adj" fmla="val 50000"/>
            </a:avLst>
          </a:prstGeom>
          <a:solidFill>
            <a:srgbClr val="1F3147"/>
          </a:solidFill>
          <a:ln w="12700">
            <a:solidFill>
              <a:srgbClr val="1F3147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9917948" y="5513832"/>
            <a:ext cx="145078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5단계 유리</a:t>
            </a:r>
            <a:endParaRPr lang="en-US" sz="13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현장 개조 (로그라이트, 신규)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8C4D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웨이브 클리어마다 과학자 쥐가 무전으로 개조 키트 3개 전달 → 1개 선택. 판 종료 시 소멸</a:t>
            </a:r>
            <a:endParaRPr lang="en-US" sz="1400" dirty="0"/>
          </a:p>
        </p:txBody>
      </p:sp>
      <p:sp>
        <p:nvSpPr>
          <p:cNvPr id="4" name="키트 화력"/>
          <p:cNvSpPr/>
          <p:nvPr/>
        </p:nvSpPr>
        <p:spPr>
          <a:xfrm>
            <a:off x="548640" y="1783080"/>
            <a:ext cx="2560320" cy="43891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pill 화력"/>
          <p:cNvSpPr/>
          <p:nvPr/>
        </p:nvSpPr>
        <p:spPr>
          <a:xfrm>
            <a:off x="822960" y="2057400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E0533A"/>
          </a:solidFill>
          <a:ln w="12700">
            <a:solidFill>
              <a:srgbClr val="E053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화력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F31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탄 2갈래 추가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832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주무장 양옆 1발씩 추가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577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7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/ 3</a:t>
            </a:r>
            <a:endParaRPr lang="en-US" sz="1100" dirty="0"/>
          </a:p>
        </p:txBody>
      </p:sp>
      <p:sp>
        <p:nvSpPr>
          <p:cNvPr id="10" name="키트 기동"/>
          <p:cNvSpPr/>
          <p:nvPr/>
        </p:nvSpPr>
        <p:spPr>
          <a:xfrm>
            <a:off x="3383280" y="1783080"/>
            <a:ext cx="2560320" cy="43891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pill 기동"/>
          <p:cNvSpPr/>
          <p:nvPr/>
        </p:nvSpPr>
        <p:spPr>
          <a:xfrm>
            <a:off x="3657600" y="2057400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5B9FCF"/>
          </a:solidFill>
          <a:ln w="12700">
            <a:solidFill>
              <a:srgbClr val="5B9FC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57600" y="20574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기동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2697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F31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부스트 무적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33832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부스트 시작 시 0.5초 무적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5577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7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/ 3</a:t>
            </a:r>
            <a:endParaRPr lang="en-US" sz="1100" dirty="0"/>
          </a:p>
        </p:txBody>
      </p:sp>
      <p:sp>
        <p:nvSpPr>
          <p:cNvPr id="16" name="키트 특수"/>
          <p:cNvSpPr/>
          <p:nvPr/>
        </p:nvSpPr>
        <p:spPr>
          <a:xfrm>
            <a:off x="6217920" y="1783080"/>
            <a:ext cx="2560320" cy="43891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pill 특수"/>
          <p:cNvSpPr/>
          <p:nvPr/>
        </p:nvSpPr>
        <p:spPr>
          <a:xfrm>
            <a:off x="6492240" y="2057400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F5B82E"/>
          </a:solidFill>
          <a:ln w="12700">
            <a:solidFill>
              <a:srgbClr val="F5B8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92240" y="20574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특수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2697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F31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처치 시 폭발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3832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처치 위치에 소형 폭발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5577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7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/ 3</a:t>
            </a:r>
            <a:endParaRPr lang="en-US" sz="1100" dirty="0"/>
          </a:p>
        </p:txBody>
      </p:sp>
      <p:pic>
        <p:nvPicPr>
          <p:cNvPr id="22" name="Image 0" descr="C:/Project/RatPlain/art/sprites/scientist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8740" y="1783080"/>
            <a:ext cx="2038134" cy="292608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9052560" y="4800600"/>
            <a:ext cx="2590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5B8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"이거 한번 달아 봐!"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9052560" y="5852160"/>
            <a:ext cx="2590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C4D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 화면 예시 (목업)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현장 개조 규칙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7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키트 4종류 + 시너지 + 정비소 + 난기류</a:t>
            </a:r>
            <a:endParaRPr lang="en-US" sz="1400" dirty="0"/>
          </a:p>
        </p:txBody>
      </p:sp>
      <p:sp>
        <p:nvSpPr>
          <p:cNvPr id="4" name="종류 화력"/>
          <p:cNvSpPr/>
          <p:nvPr/>
        </p:nvSpPr>
        <p:spPr>
          <a:xfrm>
            <a:off x="548640" y="1783080"/>
            <a:ext cx="4937760" cy="891540"/>
          </a:xfrm>
          <a:prstGeom prst="roundRect">
            <a:avLst>
              <a:gd name="adj" fmla="val 10256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sp>
        <p:nvSpPr>
          <p:cNvPr id="5" name="dot 화력"/>
          <p:cNvSpPr/>
          <p:nvPr/>
        </p:nvSpPr>
        <p:spPr>
          <a:xfrm>
            <a:off x="822960" y="1908810"/>
            <a:ext cx="640080" cy="640080"/>
          </a:xfrm>
          <a:prstGeom prst="ellipse">
            <a:avLst/>
          </a:prstGeom>
          <a:solidFill>
            <a:srgbClr val="E0533A"/>
          </a:solidFill>
          <a:ln w="12700">
            <a:solidFill>
              <a:srgbClr val="E053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0881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화력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1783080"/>
            <a:ext cx="347472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탄 추가, 확산, 관통, 연사</a:t>
            </a:r>
            <a:endParaRPr lang="en-US" sz="1400" dirty="0"/>
          </a:p>
        </p:txBody>
      </p:sp>
      <p:sp>
        <p:nvSpPr>
          <p:cNvPr id="8" name="종류 기동"/>
          <p:cNvSpPr/>
          <p:nvPr/>
        </p:nvSpPr>
        <p:spPr>
          <a:xfrm>
            <a:off x="548640" y="2948940"/>
            <a:ext cx="4937760" cy="891540"/>
          </a:xfrm>
          <a:prstGeom prst="roundRect">
            <a:avLst>
              <a:gd name="adj" fmla="val 10256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sp>
        <p:nvSpPr>
          <p:cNvPr id="9" name="dot 기동"/>
          <p:cNvSpPr/>
          <p:nvPr/>
        </p:nvSpPr>
        <p:spPr>
          <a:xfrm>
            <a:off x="822960" y="3074670"/>
            <a:ext cx="640080" cy="640080"/>
          </a:xfrm>
          <a:prstGeom prst="ellipse">
            <a:avLst/>
          </a:prstGeom>
          <a:solidFill>
            <a:srgbClr val="5B9FCF"/>
          </a:solidFill>
          <a:ln w="12700">
            <a:solidFill>
              <a:srgbClr val="5B9FC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07467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기동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2948940"/>
            <a:ext cx="347472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선회, 부스트 길이, 부스트 무적</a:t>
            </a:r>
            <a:endParaRPr lang="en-US" sz="1400" dirty="0"/>
          </a:p>
        </p:txBody>
      </p:sp>
      <p:sp>
        <p:nvSpPr>
          <p:cNvPr id="12" name="종류 생존"/>
          <p:cNvSpPr/>
          <p:nvPr/>
        </p:nvSpPr>
        <p:spPr>
          <a:xfrm>
            <a:off x="548640" y="4114800"/>
            <a:ext cx="4937760" cy="891540"/>
          </a:xfrm>
          <a:prstGeom prst="roundRect">
            <a:avLst>
              <a:gd name="adj" fmla="val 10256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sp>
        <p:nvSpPr>
          <p:cNvPr id="13" name="dot 생존"/>
          <p:cNvSpPr/>
          <p:nvPr/>
        </p:nvSpPr>
        <p:spPr>
          <a:xfrm>
            <a:off x="822960" y="4240530"/>
            <a:ext cx="640080" cy="640080"/>
          </a:xfrm>
          <a:prstGeom prst="ellipse">
            <a:avLst/>
          </a:prstGeom>
          <a:solidFill>
            <a:srgbClr val="7FD88A"/>
          </a:solidFill>
          <a:ln w="12700">
            <a:solidFill>
              <a:srgbClr val="7FD8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24053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생존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737360" y="4114800"/>
            <a:ext cx="347472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최대 체력, 회복 속도, 사격 중 일부 회복</a:t>
            </a:r>
            <a:endParaRPr lang="en-US" sz="1400" dirty="0"/>
          </a:p>
        </p:txBody>
      </p:sp>
      <p:sp>
        <p:nvSpPr>
          <p:cNvPr id="16" name="종류 특수"/>
          <p:cNvSpPr/>
          <p:nvPr/>
        </p:nvSpPr>
        <p:spPr>
          <a:xfrm>
            <a:off x="548640" y="5280660"/>
            <a:ext cx="4937760" cy="891540"/>
          </a:xfrm>
          <a:prstGeom prst="roundRect">
            <a:avLst>
              <a:gd name="adj" fmla="val 10256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sp>
        <p:nvSpPr>
          <p:cNvPr id="17" name="dot 특수"/>
          <p:cNvSpPr/>
          <p:nvPr/>
        </p:nvSpPr>
        <p:spPr>
          <a:xfrm>
            <a:off x="822960" y="5406390"/>
            <a:ext cx="640080" cy="640080"/>
          </a:xfrm>
          <a:prstGeom prst="ellipse">
            <a:avLst/>
          </a:prstGeom>
          <a:solidFill>
            <a:srgbClr val="F5B82E"/>
          </a:solidFill>
          <a:ln w="12700">
            <a:solidFill>
              <a:srgbClr val="F5B8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540639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특수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737360" y="5280660"/>
            <a:ext cx="347472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처치 시 폭발, 유도탄, 호위 무인기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1783080"/>
            <a:ext cx="56080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종류 3개 모으면 완성 개조 등장 (예: 화력 3개 → 8방향 동시 사격)</a:t>
            </a:r>
            <a:endParaRPr lang="en-US" sz="15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장착 장비 부위(폭탄창, 무인기 등)에 맞는 키트 등장 확률 증가 → 판 밖 빌드가 판 안 빌드 방향 결정</a:t>
            </a:r>
            <a:endParaRPr lang="en-US" sz="15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보스 직전 정비소: 체력 50% 회복 / 상위 키트 1개 중 선택</a:t>
            </a:r>
            <a:endParaRPr lang="en-US" sz="15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클리어한 스테이지 재도전 시 난기류(적 체력↑, 탄속↑, 회복↓) 선택 가능, 보상 배율 증가 → 숙련 유저 반복 플레이용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기체 테크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7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비행기 발전 순서대로 6단계 × 3갈래 = 16대. 이전 단계 기체 보유 시 구매 가능. 테크 = 보유 기체 최고 단계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7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0단계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1783080"/>
            <a:ext cx="15605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7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1단계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029395" y="1783080"/>
            <a:ext cx="15605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7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2단계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589910" y="1783080"/>
            <a:ext cx="15605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7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3단계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150425" y="1783080"/>
            <a:ext cx="15605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7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4단계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710940" y="1783080"/>
            <a:ext cx="15605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7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5단계</a:t>
            </a:r>
            <a:endParaRPr lang="en-US" sz="1100" dirty="0"/>
          </a:p>
        </p:txBody>
      </p:sp>
      <p:sp>
        <p:nvSpPr>
          <p:cNvPr id="10" name="시작 기체"/>
          <p:cNvSpPr/>
          <p:nvPr/>
        </p:nvSpPr>
        <p:spPr>
          <a:xfrm>
            <a:off x="548640" y="3413760"/>
            <a:ext cx="1645920" cy="1127760"/>
          </a:xfrm>
          <a:prstGeom prst="roundRect">
            <a:avLst>
              <a:gd name="adj" fmla="val 8108"/>
            </a:avLst>
          </a:prstGeom>
          <a:solidFill>
            <a:srgbClr val="FDF1D6"/>
          </a:solidFill>
          <a:ln w="12700">
            <a:solidFill>
              <a:srgbClr val="FDF1D6"/>
            </a:solidFill>
            <a:prstDash val="solid"/>
          </a:ln>
        </p:spPr>
      </p:sp>
      <p:pic>
        <p:nvPicPr>
          <p:cNvPr id="11" name="Image 0" descr="C:/Project/RatPlain/art/sprites/player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069" y="3505200"/>
            <a:ext cx="509062" cy="5334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48640" y="4175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쥐돌이 1호</a:t>
            </a:r>
            <a:endParaRPr lang="en-US" sz="1100" dirty="0"/>
          </a:p>
        </p:txBody>
      </p:sp>
      <p:sp>
        <p:nvSpPr>
          <p:cNvPr id="13" name="줄 전투기"/>
          <p:cNvSpPr/>
          <p:nvPr/>
        </p:nvSpPr>
        <p:spPr>
          <a:xfrm>
            <a:off x="2468880" y="2148840"/>
            <a:ext cx="7802575" cy="1127760"/>
          </a:xfrm>
          <a:prstGeom prst="roundRect">
            <a:avLst>
              <a:gd name="adj" fmla="val 8108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pic>
        <p:nvPicPr>
          <p:cNvPr id="14" name="Image 1" descr="C:/Project/RatPlain/art/sprites/player_mono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5536" y="2240280"/>
            <a:ext cx="607203" cy="6248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468880" y="2910840"/>
            <a:ext cx="15605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단엽 전투기</a:t>
            </a:r>
            <a:endParaRPr lang="en-US" sz="1100" dirty="0"/>
          </a:p>
        </p:txBody>
      </p:sp>
      <p:pic>
        <p:nvPicPr>
          <p:cNvPr id="16" name="Image 2" descr="C:/Project/RatPlain/art/sprites/player_jet_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8777" y="2240280"/>
            <a:ext cx="661750" cy="6248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029395" y="2910840"/>
            <a:ext cx="15605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후퇴익 제트기</a:t>
            </a:r>
            <a:endParaRPr lang="en-US" sz="1100" dirty="0"/>
          </a:p>
        </p:txBody>
      </p:sp>
      <p:pic>
        <p:nvPicPr>
          <p:cNvPr id="18" name="Image 3" descr="C:/Project/RatPlain/art/sprites/player_super_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7190" y="2240280"/>
            <a:ext cx="745954" cy="62484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589910" y="2910840"/>
            <a:ext cx="15605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초음속 델타익기</a:t>
            </a:r>
            <a:endParaRPr lang="en-US" sz="1100" dirty="0"/>
          </a:p>
        </p:txBody>
      </p:sp>
      <p:pic>
        <p:nvPicPr>
          <p:cNvPr id="20" name="Image 4" descr="C:/Project/RatPlain/art/sprites/player_stealth_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00085" y="2240280"/>
            <a:ext cx="661194" cy="62484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150425" y="2910840"/>
            <a:ext cx="15605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스텔스 전투기</a:t>
            </a:r>
            <a:endParaRPr lang="en-US" sz="1100" dirty="0"/>
          </a:p>
        </p:txBody>
      </p:sp>
      <p:pic>
        <p:nvPicPr>
          <p:cNvPr id="22" name="Image 5" descr="C:/Project/RatPlain/art/sprites/player_orbiter_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3591" y="2240280"/>
            <a:ext cx="655214" cy="62484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8710940" y="2910840"/>
            <a:ext cx="15605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우주 요격기</a:t>
            </a:r>
            <a:endParaRPr lang="en-US" sz="1100" dirty="0"/>
          </a:p>
        </p:txBody>
      </p:sp>
      <p:sp>
        <p:nvSpPr>
          <p:cNvPr id="24" name="pill 전투기"/>
          <p:cNvSpPr/>
          <p:nvPr/>
        </p:nvSpPr>
        <p:spPr>
          <a:xfrm>
            <a:off x="10545775" y="2520696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5B9FCF"/>
          </a:solidFill>
          <a:ln w="12700">
            <a:solidFill>
              <a:srgbClr val="5B9FCF"/>
            </a:solidFill>
            <a:prstDash val="solid"/>
          </a:ln>
        </p:spPr>
      </p:sp>
      <p:sp>
        <p:nvSpPr>
          <p:cNvPr id="25" name="Text 17"/>
          <p:cNvSpPr txBox="1"/>
          <p:nvPr/>
        </p:nvSpPr>
        <p:spPr>
          <a:xfrm>
            <a:off x="10545775" y="252069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전투기</a:t>
            </a:r>
            <a:endParaRPr lang="en-US" sz="1300" dirty="0"/>
          </a:p>
        </p:txBody>
      </p:sp>
      <p:sp>
        <p:nvSpPr>
          <p:cNvPr id="26" name="줄 다목적기"/>
          <p:cNvSpPr/>
          <p:nvPr/>
        </p:nvSpPr>
        <p:spPr>
          <a:xfrm>
            <a:off x="2468880" y="3413760"/>
            <a:ext cx="7802575" cy="1127760"/>
          </a:xfrm>
          <a:prstGeom prst="roundRect">
            <a:avLst>
              <a:gd name="adj" fmla="val 8108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pic>
        <p:nvPicPr>
          <p:cNvPr id="27" name="Image 6" descr="C:/Project/RatPlain/art/sprites/player_dive_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34305" y="3505200"/>
            <a:ext cx="629665" cy="62484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2468880" y="4175760"/>
            <a:ext cx="15605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급강하 폭격기</a:t>
            </a:r>
            <a:endParaRPr lang="en-US" sz="1100" dirty="0"/>
          </a:p>
        </p:txBody>
      </p:sp>
      <p:pic>
        <p:nvPicPr>
          <p:cNvPr id="29" name="Image 7" descr="C:/Project/RatPlain/art/sprites/player_fbomber_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87729" y="3505200"/>
            <a:ext cx="643847" cy="624840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4029395" y="4175760"/>
            <a:ext cx="15605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제트 전폭기</a:t>
            </a:r>
            <a:endParaRPr lang="en-US" sz="1100" dirty="0"/>
          </a:p>
        </p:txBody>
      </p:sp>
      <p:pic>
        <p:nvPicPr>
          <p:cNvPr id="31" name="Image 8" descr="C:/Project/RatPlain/art/sprites/player_swing_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50074" y="3505200"/>
            <a:ext cx="640187" cy="624840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5589910" y="4175760"/>
            <a:ext cx="15605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가변익 다목적기</a:t>
            </a:r>
            <a:endParaRPr lang="en-US" sz="1100" dirty="0"/>
          </a:p>
        </p:txBody>
      </p:sp>
      <p:pic>
        <p:nvPicPr>
          <p:cNvPr id="33" name="Image 9" descr="C:/Project/RatPlain/art/sprites/player_drone_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16180" y="3505200"/>
            <a:ext cx="629006" cy="624840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7150425" y="4175760"/>
            <a:ext cx="15605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무인기 지휘기</a:t>
            </a:r>
            <a:endParaRPr lang="en-US" sz="1100" dirty="0"/>
          </a:p>
        </p:txBody>
      </p:sp>
      <p:pic>
        <p:nvPicPr>
          <p:cNvPr id="35" name="Image 10" descr="C:/Project/RatPlain/art/sprites/player_shuttle_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46680" y="3505200"/>
            <a:ext cx="689036" cy="624840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8710940" y="4175760"/>
            <a:ext cx="15605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궤도 왕복 공격기</a:t>
            </a:r>
            <a:endParaRPr lang="en-US" sz="1100" dirty="0"/>
          </a:p>
        </p:txBody>
      </p:sp>
      <p:sp>
        <p:nvSpPr>
          <p:cNvPr id="37" name="pill 다목적기"/>
          <p:cNvSpPr/>
          <p:nvPr/>
        </p:nvSpPr>
        <p:spPr>
          <a:xfrm>
            <a:off x="10545775" y="3785616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F5B82E"/>
          </a:solidFill>
          <a:ln w="12700">
            <a:solidFill>
              <a:srgbClr val="F5B82E"/>
            </a:solidFill>
            <a:prstDash val="solid"/>
          </a:ln>
        </p:spPr>
      </p:sp>
      <p:sp>
        <p:nvSpPr>
          <p:cNvPr id="38" name="Text 25"/>
          <p:cNvSpPr txBox="1"/>
          <p:nvPr/>
        </p:nvSpPr>
        <p:spPr>
          <a:xfrm>
            <a:off x="10545775" y="378561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다목적기</a:t>
            </a:r>
            <a:endParaRPr lang="en-US" sz="1300" dirty="0"/>
          </a:p>
        </p:txBody>
      </p:sp>
      <p:sp>
        <p:nvSpPr>
          <p:cNvPr id="39" name="줄 폭격기"/>
          <p:cNvSpPr/>
          <p:nvPr/>
        </p:nvSpPr>
        <p:spPr>
          <a:xfrm>
            <a:off x="2468880" y="4678680"/>
            <a:ext cx="7802575" cy="1127760"/>
          </a:xfrm>
          <a:prstGeom prst="roundRect">
            <a:avLst>
              <a:gd name="adj" fmla="val 8108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pic>
        <p:nvPicPr>
          <p:cNvPr id="40" name="Image 11" descr="C:/Project/RatPlain/art/sprites/player_heavy_0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78053" y="4770120"/>
            <a:ext cx="542169" cy="624840"/>
          </a:xfrm>
          <a:prstGeom prst="rect">
            <a:avLst/>
          </a:prstGeom>
        </p:spPr>
      </p:pic>
      <p:sp>
        <p:nvSpPr>
          <p:cNvPr id="41" name="Text 27"/>
          <p:cNvSpPr txBox="1"/>
          <p:nvPr/>
        </p:nvSpPr>
        <p:spPr>
          <a:xfrm>
            <a:off x="2468880" y="5440680"/>
            <a:ext cx="15605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쌍발 중전투기</a:t>
            </a:r>
            <a:endParaRPr lang="en-US" sz="1100" dirty="0"/>
          </a:p>
        </p:txBody>
      </p:sp>
      <p:pic>
        <p:nvPicPr>
          <p:cNvPr id="42" name="Image 12" descr="C:/Project/RatPlain/art/sprites/player_fort_0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00743" y="4770120"/>
            <a:ext cx="617819" cy="624840"/>
          </a:xfrm>
          <a:prstGeom prst="rect">
            <a:avLst/>
          </a:prstGeom>
        </p:spPr>
      </p:pic>
      <p:sp>
        <p:nvSpPr>
          <p:cNvPr id="43" name="Text 28"/>
          <p:cNvSpPr txBox="1"/>
          <p:nvPr/>
        </p:nvSpPr>
        <p:spPr>
          <a:xfrm>
            <a:off x="4029395" y="5440680"/>
            <a:ext cx="15605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4발 중폭격기</a:t>
            </a:r>
            <a:endParaRPr lang="en-US" sz="1100" dirty="0"/>
          </a:p>
        </p:txBody>
      </p:sp>
      <p:pic>
        <p:nvPicPr>
          <p:cNvPr id="44" name="Image 13" descr="C:/Project/RatPlain/art/sprites/player_flywing_0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98312" y="4770120"/>
            <a:ext cx="543710" cy="624840"/>
          </a:xfrm>
          <a:prstGeom prst="rect">
            <a:avLst/>
          </a:prstGeom>
        </p:spPr>
      </p:pic>
      <p:sp>
        <p:nvSpPr>
          <p:cNvPr id="45" name="Text 29"/>
          <p:cNvSpPr txBox="1"/>
          <p:nvPr/>
        </p:nvSpPr>
        <p:spPr>
          <a:xfrm>
            <a:off x="5589910" y="5440680"/>
            <a:ext cx="15605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전익 전략폭격기</a:t>
            </a:r>
            <a:endParaRPr lang="en-US" sz="1100" dirty="0"/>
          </a:p>
        </p:txBody>
      </p:sp>
      <p:pic>
        <p:nvPicPr>
          <p:cNvPr id="46" name="Image 14" descr="C:/Project/RatPlain/art/sprites/player_hyper_0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06153" y="4770120"/>
            <a:ext cx="649059" cy="624840"/>
          </a:xfrm>
          <a:prstGeom prst="rect">
            <a:avLst/>
          </a:prstGeom>
        </p:spPr>
      </p:pic>
      <p:sp>
        <p:nvSpPr>
          <p:cNvPr id="47" name="Text 30"/>
          <p:cNvSpPr txBox="1"/>
          <p:nvPr/>
        </p:nvSpPr>
        <p:spPr>
          <a:xfrm>
            <a:off x="7150425" y="5440680"/>
            <a:ext cx="15605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극초음속 폭격기</a:t>
            </a:r>
            <a:endParaRPr lang="en-US" sz="1100" dirty="0"/>
          </a:p>
        </p:txBody>
      </p:sp>
      <p:pic>
        <p:nvPicPr>
          <p:cNvPr id="48" name="Image 15" descr="C:/Project/RatPlain/art/sprites/player_carrier_0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59822" y="4770120"/>
            <a:ext cx="662752" cy="624840"/>
          </a:xfrm>
          <a:prstGeom prst="rect">
            <a:avLst/>
          </a:prstGeom>
        </p:spPr>
      </p:pic>
      <p:sp>
        <p:nvSpPr>
          <p:cNvPr id="49" name="Text 31"/>
          <p:cNvSpPr txBox="1"/>
          <p:nvPr/>
        </p:nvSpPr>
        <p:spPr>
          <a:xfrm>
            <a:off x="8710940" y="5440680"/>
            <a:ext cx="15605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공중 항공모함</a:t>
            </a:r>
            <a:endParaRPr lang="en-US" sz="1100" dirty="0"/>
          </a:p>
        </p:txBody>
      </p:sp>
      <p:sp>
        <p:nvSpPr>
          <p:cNvPr id="50" name="pill 폭격기"/>
          <p:cNvSpPr/>
          <p:nvPr/>
        </p:nvSpPr>
        <p:spPr>
          <a:xfrm>
            <a:off x="10545775" y="5050536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E0533A"/>
          </a:solidFill>
          <a:ln w="12700">
            <a:solidFill>
              <a:srgbClr val="E0533A"/>
            </a:solidFill>
            <a:prstDash val="solid"/>
          </a:ln>
        </p:spPr>
      </p:sp>
      <p:sp>
        <p:nvSpPr>
          <p:cNvPr id="51" name="Text 33"/>
          <p:cNvSpPr txBox="1"/>
          <p:nvPr/>
        </p:nvSpPr>
        <p:spPr>
          <a:xfrm>
            <a:off x="10545775" y="505053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폭격기</a:t>
            </a:r>
            <a:endParaRPr lang="en-US" sz="1300" dirty="0"/>
          </a:p>
        </p:txBody>
      </p:sp>
      <p:sp>
        <p:nvSpPr>
          <p:cNvPr id="52" name="Text 34"/>
          <p:cNvSpPr txBox="1"/>
          <p:nvPr/>
        </p:nvSpPr>
        <p:spPr>
          <a:xfrm>
            <a:off x="548640" y="58521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7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테크가 오를수록 장착 부위 증가(3~7칸), 장착 가능 티어 확장. 기체마다 부위 구성이 달라 기체 성격 형성</a:t>
            </a:r>
            <a:endParaRPr lang="en-US" sz="1100" dirty="0"/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장비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7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장비 = 티어 + 장착 가능 갈래 + 등급. 높은 등급일수록 고유 효과 부여</a:t>
            </a:r>
            <a:endParaRPr lang="en-US" sz="1400" dirty="0"/>
          </a:p>
        </p:txBody>
      </p:sp>
      <p:sp>
        <p:nvSpPr>
          <p:cNvPr id="4" name="등급 일반"/>
          <p:cNvSpPr/>
          <p:nvPr/>
        </p:nvSpPr>
        <p:spPr>
          <a:xfrm>
            <a:off x="548640" y="1783080"/>
            <a:ext cx="2567864" cy="2514600"/>
          </a:xfrm>
          <a:prstGeom prst="roundRect">
            <a:avLst>
              <a:gd name="adj" fmla="val 3636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sp>
        <p:nvSpPr>
          <p:cNvPr id="5" name="ring 일반"/>
          <p:cNvSpPr/>
          <p:nvPr/>
        </p:nvSpPr>
        <p:spPr>
          <a:xfrm>
            <a:off x="822960" y="2057400"/>
            <a:ext cx="822960" cy="822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9D2DC"/>
            </a:solidFill>
            <a:prstDash val="solid"/>
          </a:ln>
        </p:spPr>
      </p:sp>
      <p:pic>
        <p:nvPicPr>
          <p:cNvPr id="6" name="Image 0" descr="C:/Project/RatPlain/art/sprites/parts_a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199229"/>
            <a:ext cx="603504" cy="53930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20240" y="2258568"/>
            <a:ext cx="921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31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일반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108960"/>
            <a:ext cx="2019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수치만 상승</a:t>
            </a:r>
            <a:endParaRPr lang="en-US" sz="1400" dirty="0"/>
          </a:p>
        </p:txBody>
      </p:sp>
      <p:sp>
        <p:nvSpPr>
          <p:cNvPr id="9" name="등급 고급"/>
          <p:cNvSpPr/>
          <p:nvPr/>
        </p:nvSpPr>
        <p:spPr>
          <a:xfrm>
            <a:off x="3390824" y="1783080"/>
            <a:ext cx="2567864" cy="2514600"/>
          </a:xfrm>
          <a:prstGeom prst="roundRect">
            <a:avLst>
              <a:gd name="adj" fmla="val 3636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sp>
        <p:nvSpPr>
          <p:cNvPr id="10" name="ring 고급"/>
          <p:cNvSpPr/>
          <p:nvPr/>
        </p:nvSpPr>
        <p:spPr>
          <a:xfrm>
            <a:off x="3665144" y="2057400"/>
            <a:ext cx="822960" cy="822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7FD88A"/>
            </a:solidFill>
            <a:prstDash val="solid"/>
          </a:ln>
        </p:spPr>
      </p:sp>
      <p:pic>
        <p:nvPicPr>
          <p:cNvPr id="11" name="Image 1" descr="C:/Project/RatPlain/art/sprites/parts_a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4872" y="2299673"/>
            <a:ext cx="603504" cy="33841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62424" y="2258568"/>
            <a:ext cx="921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31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665144" y="3108960"/>
            <a:ext cx="2019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수치 상승폭 증가 또는 두 가지 동시 상승</a:t>
            </a:r>
            <a:endParaRPr lang="en-US" sz="1400" dirty="0"/>
          </a:p>
        </p:txBody>
      </p:sp>
      <p:sp>
        <p:nvSpPr>
          <p:cNvPr id="14" name="등급 희귀"/>
          <p:cNvSpPr/>
          <p:nvPr/>
        </p:nvSpPr>
        <p:spPr>
          <a:xfrm>
            <a:off x="6233008" y="1783080"/>
            <a:ext cx="2567864" cy="2514600"/>
          </a:xfrm>
          <a:prstGeom prst="roundRect">
            <a:avLst>
              <a:gd name="adj" fmla="val 3636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sp>
        <p:nvSpPr>
          <p:cNvPr id="15" name="ring 희귀"/>
          <p:cNvSpPr/>
          <p:nvPr/>
        </p:nvSpPr>
        <p:spPr>
          <a:xfrm>
            <a:off x="6507328" y="2057400"/>
            <a:ext cx="822960" cy="822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6FB8FF"/>
            </a:solidFill>
            <a:prstDash val="solid"/>
          </a:ln>
        </p:spPr>
      </p:sp>
      <p:pic>
        <p:nvPicPr>
          <p:cNvPr id="16" name="Image 2" descr="C:/Project/RatPlain/art/sprites/parts_u1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7056" y="2203604"/>
            <a:ext cx="603504" cy="53055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604608" y="2258568"/>
            <a:ext cx="921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31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희귀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6507328" y="3108960"/>
            <a:ext cx="2019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고유 효과 시작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부스트 시작 시 무적 + 적 탄 제거</a:t>
            </a:r>
            <a:endParaRPr lang="en-US" sz="1400" dirty="0"/>
          </a:p>
        </p:txBody>
      </p:sp>
      <p:sp>
        <p:nvSpPr>
          <p:cNvPr id="19" name="등급 전설"/>
          <p:cNvSpPr/>
          <p:nvPr/>
        </p:nvSpPr>
        <p:spPr>
          <a:xfrm>
            <a:off x="9075191" y="1783080"/>
            <a:ext cx="2567864" cy="2514600"/>
          </a:xfrm>
          <a:prstGeom prst="roundRect">
            <a:avLst>
              <a:gd name="adj" fmla="val 3636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sp>
        <p:nvSpPr>
          <p:cNvPr id="20" name="ring 전설"/>
          <p:cNvSpPr/>
          <p:nvPr/>
        </p:nvSpPr>
        <p:spPr>
          <a:xfrm>
            <a:off x="9349511" y="2057400"/>
            <a:ext cx="822960" cy="822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B84D"/>
            </a:solidFill>
            <a:prstDash val="solid"/>
          </a:ln>
        </p:spPr>
      </p:sp>
      <p:pic>
        <p:nvPicPr>
          <p:cNvPr id="21" name="Image 3" descr="C:/Project/RatPlain/art/sprites/parts_u4_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9239" y="2174228"/>
            <a:ext cx="603504" cy="58930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0446791" y="2258568"/>
            <a:ext cx="921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31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전설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9349511" y="3108960"/>
            <a:ext cx="2019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플레이 방식 변화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부스트 중 지나간 길에 융단 폭격</a:t>
            </a:r>
            <a:endParaRPr lang="en-US" sz="1400" dirty="0"/>
          </a:p>
        </p:txBody>
      </p:sp>
      <p:sp>
        <p:nvSpPr>
          <p:cNvPr id="24" name="장착 조건"/>
          <p:cNvSpPr/>
          <p:nvPr/>
        </p:nvSpPr>
        <p:spPr>
          <a:xfrm>
            <a:off x="548640" y="4572000"/>
            <a:ext cx="11094415" cy="1600200"/>
          </a:xfrm>
          <a:prstGeom prst="roundRect">
            <a:avLst>
              <a:gd name="adj" fmla="val 5714"/>
            </a:avLst>
          </a:prstGeom>
          <a:solidFill>
            <a:srgbClr val="FDF1D6"/>
          </a:solidFill>
          <a:ln w="12700">
            <a:solidFill>
              <a:srgbClr val="FDF1D6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822960" y="4846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31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장착 조건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822960" y="534924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보유 기체 + 해당 부위 보유 + 갈래 일치 + 기체 단계 ≥ 장비 티어. 낮은 티어 장비는 상위 기체에 장착 가능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장비 1개당 기체 1대에만 장착 (다른 기체로 이동 가능). 총 224종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연구 의뢰 / 합성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7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상점 없음. 과학자 쥐에게 연구 의뢰 → 재화 소모, 일정 확률로 장비 획득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83080"/>
          <a:ext cx="566928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92240" y="1783080"/>
            <a:ext cx="377921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투입 재화를 슬라이더로 직접 결정. 많이 쓸수록 상위 등급 확률 증가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확률은 화면에 그대로 공개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티어는 테크 기준 (테크 60%, -1 25%, -2 10%, 나머지 5%)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보유 기체에 장착 가능한 장비만 등장</a:t>
            </a:r>
            <a:endParaRPr lang="en-US" sz="1400" dirty="0"/>
          </a:p>
        </p:txBody>
      </p:sp>
      <p:pic>
        <p:nvPicPr>
          <p:cNvPr id="6" name="Image 0" descr="C:/Project/RatPlain/art/sprites/scientist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4882" y="1783080"/>
            <a:ext cx="1019067" cy="1463040"/>
          </a:xfrm>
          <a:prstGeom prst="rect">
            <a:avLst/>
          </a:prstGeom>
        </p:spPr>
      </p:pic>
      <p:sp>
        <p:nvSpPr>
          <p:cNvPr id="7" name="합성"/>
          <p:cNvSpPr/>
          <p:nvPr/>
        </p:nvSpPr>
        <p:spPr>
          <a:xfrm>
            <a:off x="6492240" y="4160520"/>
            <a:ext cx="5150815" cy="2011680"/>
          </a:xfrm>
          <a:prstGeom prst="roundRect">
            <a:avLst>
              <a:gd name="adj" fmla="val 4545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766560" y="4434840"/>
            <a:ext cx="46021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31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합성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티어 / 같은 등급 3개 → 한 등급 위 1개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F31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티어 업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티어 전설 3~6개 → 한 티어 위 전설 (35 / 50 / 65 / 80%). 실패 시 1개만 남음. 한 단계 위 기체 보유 필요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비쥬얼 가이드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7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원작의 플랫한 그림체 + 탑뷰 공중 도그 파이트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1206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원작 그림체 유지, 탑뷰로 공중 도그 파이트 구현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셀 애니메이션 방식: 배경 먼저 생성 후 객체 배치. 구름은 비행기 위로 통과시켜 높이감 표현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투사체, 연기는 벡터 이펙트로 표현. 폭발은 그림 이펙트, 적 재질에 따라 금속 파편 / 깃털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 요소는 전부 빨간 계열로 예고. 획득 아이템은 코인 노랑, 톱니 회색, 렌치 초록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사운드: 타이틀 오케스트라 팝, 전투 오케스트라 록, 보스 단조 록. 효과음 17종</a:t>
            </a:r>
            <a:endParaRPr lang="en-US" sz="1400" dirty="0"/>
          </a:p>
        </p:txBody>
      </p:sp>
      <p:sp>
        <p:nvSpPr>
          <p:cNvPr id="5" name="보스 (용암 불사조)"/>
          <p:cNvSpPr/>
          <p:nvPr/>
        </p:nvSpPr>
        <p:spPr>
          <a:xfrm>
            <a:off x="5943600" y="1783080"/>
            <a:ext cx="1716938" cy="2057400"/>
          </a:xfrm>
          <a:prstGeom prst="roundRect">
            <a:avLst>
              <a:gd name="adj" fmla="val 5326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pic>
        <p:nvPicPr>
          <p:cNvPr id="6" name="Image 0" descr="C:/Project/RatPlain/art/sprites/boss_phoenix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0566" y="2057400"/>
            <a:ext cx="1103006" cy="11430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0" y="3291840"/>
            <a:ext cx="1716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7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보스 (용암 불사조)</a:t>
            </a:r>
            <a:endParaRPr lang="en-US" sz="1100" dirty="0"/>
          </a:p>
        </p:txBody>
      </p:sp>
      <p:sp>
        <p:nvSpPr>
          <p:cNvPr id="8" name="적 (하늘 고양이)"/>
          <p:cNvSpPr/>
          <p:nvPr/>
        </p:nvSpPr>
        <p:spPr>
          <a:xfrm>
            <a:off x="7934858" y="1783080"/>
            <a:ext cx="1716938" cy="2057400"/>
          </a:xfrm>
          <a:prstGeom prst="roundRect">
            <a:avLst>
              <a:gd name="adj" fmla="val 5326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pic>
        <p:nvPicPr>
          <p:cNvPr id="9" name="Image 1" descr="C:/Project/RatPlain/art/sprites/e_cat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9178" y="2147704"/>
            <a:ext cx="1168298" cy="96239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934858" y="3291840"/>
            <a:ext cx="1716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7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 (하늘 고양이)</a:t>
            </a:r>
            <a:endParaRPr lang="en-US" sz="1100" dirty="0"/>
          </a:p>
        </p:txBody>
      </p:sp>
      <p:sp>
        <p:nvSpPr>
          <p:cNvPr id="11" name="기체 (공중 항공모함)"/>
          <p:cNvSpPr/>
          <p:nvPr/>
        </p:nvSpPr>
        <p:spPr>
          <a:xfrm>
            <a:off x="9926117" y="1783080"/>
            <a:ext cx="1716938" cy="2057400"/>
          </a:xfrm>
          <a:prstGeom prst="roundRect">
            <a:avLst>
              <a:gd name="adj" fmla="val 5326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pic>
        <p:nvPicPr>
          <p:cNvPr id="12" name="Image 2" descr="C:/Project/RatPlain/art/sprites/player_carrier_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0437" y="2078166"/>
            <a:ext cx="1168298" cy="110146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926117" y="3291840"/>
            <a:ext cx="1716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7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기체 (공중 항공모함)</a:t>
            </a:r>
            <a:endParaRPr lang="en-US" sz="1100" dirty="0"/>
          </a:p>
        </p:txBody>
      </p:sp>
      <p:sp>
        <p:nvSpPr>
          <p:cNvPr id="14" name="폭발 이펙트"/>
          <p:cNvSpPr/>
          <p:nvPr/>
        </p:nvSpPr>
        <p:spPr>
          <a:xfrm>
            <a:off x="5943600" y="4114800"/>
            <a:ext cx="1716938" cy="2057400"/>
          </a:xfrm>
          <a:prstGeom prst="roundRect">
            <a:avLst>
              <a:gd name="adj" fmla="val 5326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pic>
        <p:nvPicPr>
          <p:cNvPr id="15" name="Image 3" descr="C:/Project/RatPlain/art/sprites/fx_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7412" y="4389120"/>
            <a:ext cx="1149315" cy="11430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943600" y="5623560"/>
            <a:ext cx="1716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7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폭발 이펙트</a:t>
            </a:r>
            <a:endParaRPr lang="en-US" sz="1100" dirty="0"/>
          </a:p>
        </p:txBody>
      </p:sp>
      <p:sp>
        <p:nvSpPr>
          <p:cNvPr id="17" name="배경 (섬)"/>
          <p:cNvSpPr/>
          <p:nvPr/>
        </p:nvSpPr>
        <p:spPr>
          <a:xfrm>
            <a:off x="7934858" y="4114800"/>
            <a:ext cx="1716938" cy="2057400"/>
          </a:xfrm>
          <a:prstGeom prst="roundRect">
            <a:avLst>
              <a:gd name="adj" fmla="val 5326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pic>
        <p:nvPicPr>
          <p:cNvPr id="18" name="Image 4" descr="C:/Project/RatPlain/art/sprites/islands_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5704" y="4389120"/>
            <a:ext cx="1155246" cy="11430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934858" y="5623560"/>
            <a:ext cx="1716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7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배경 (섬)</a:t>
            </a:r>
            <a:endParaRPr lang="en-US" sz="1100" dirty="0"/>
          </a:p>
        </p:txBody>
      </p:sp>
      <p:sp>
        <p:nvSpPr>
          <p:cNvPr id="20" name="획득 아이템 (톱니)"/>
          <p:cNvSpPr/>
          <p:nvPr/>
        </p:nvSpPr>
        <p:spPr>
          <a:xfrm>
            <a:off x="9926117" y="4114800"/>
            <a:ext cx="1716938" cy="2057400"/>
          </a:xfrm>
          <a:prstGeom prst="roundRect">
            <a:avLst>
              <a:gd name="adj" fmla="val 5326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pic>
        <p:nvPicPr>
          <p:cNvPr id="21" name="Image 5" descr="C:/Project/RatPlain/art/sprites/items_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00437" y="4489532"/>
            <a:ext cx="1168298" cy="942176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9926117" y="5623560"/>
            <a:ext cx="1716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7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획득 아이템 (톱니)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플랫폼 / BM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7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PC 패키지, 현금 뽑기 없음</a:t>
            </a:r>
            <a:endParaRPr lang="en-US" sz="1400" dirty="0"/>
          </a:p>
        </p:txBody>
      </p:sp>
      <p:sp>
        <p:nvSpPr>
          <p:cNvPr id="4" name="PC 스팀 패키지"/>
          <p:cNvSpPr/>
          <p:nvPr/>
        </p:nvSpPr>
        <p:spPr>
          <a:xfrm>
            <a:off x="548640" y="1783080"/>
            <a:ext cx="3515258" cy="2651760"/>
          </a:xfrm>
          <a:prstGeom prst="roundRect">
            <a:avLst>
              <a:gd name="adj" fmla="val 3448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sp>
        <p:nvSpPr>
          <p:cNvPr id="5" name="dot 1"/>
          <p:cNvSpPr/>
          <p:nvPr/>
        </p:nvSpPr>
        <p:spPr>
          <a:xfrm>
            <a:off x="822960" y="2057400"/>
            <a:ext cx="548640" cy="548640"/>
          </a:xfrm>
          <a:prstGeom prst="ellipse">
            <a:avLst/>
          </a:prstGeom>
          <a:solidFill>
            <a:srgbClr val="1F3147"/>
          </a:solidFill>
          <a:ln w="12700">
            <a:solidFill>
              <a:srgbClr val="1F31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3464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31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PC 스팀 패키지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3756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키보드 + 마우스. 이동과 조준 동시 조작이 핵심이라 모바일 / 터치 제외</a:t>
            </a:r>
            <a:endParaRPr lang="en-US" sz="1400" dirty="0"/>
          </a:p>
        </p:txBody>
      </p:sp>
      <p:sp>
        <p:nvSpPr>
          <p:cNvPr id="9" name="뽑기는 게임 재화로만"/>
          <p:cNvSpPr/>
          <p:nvPr/>
        </p:nvSpPr>
        <p:spPr>
          <a:xfrm>
            <a:off x="4338218" y="1783080"/>
            <a:ext cx="3515258" cy="2651760"/>
          </a:xfrm>
          <a:prstGeom prst="roundRect">
            <a:avLst>
              <a:gd name="adj" fmla="val 3448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sp>
        <p:nvSpPr>
          <p:cNvPr id="10" name="dot 2"/>
          <p:cNvSpPr/>
          <p:nvPr/>
        </p:nvSpPr>
        <p:spPr>
          <a:xfrm>
            <a:off x="4612538" y="2057400"/>
            <a:ext cx="548640" cy="548640"/>
          </a:xfrm>
          <a:prstGeom prst="ellipse">
            <a:avLst/>
          </a:prstGeom>
          <a:solidFill>
            <a:srgbClr val="F5B82E"/>
          </a:solidFill>
          <a:ln w="12700">
            <a:solidFill>
              <a:srgbClr val="F5B8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2538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612538" y="283464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31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뽑기는 게임 재화로만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12538" y="333756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의뢰에 현금 결제 없음. 확률 전체 공개로 뽑기 거부감 완화</a:t>
            </a:r>
            <a:endParaRPr lang="en-US" sz="1400" dirty="0"/>
          </a:p>
        </p:txBody>
      </p:sp>
      <p:sp>
        <p:nvSpPr>
          <p:cNvPr id="14" name="추후 DLC"/>
          <p:cNvSpPr/>
          <p:nvPr/>
        </p:nvSpPr>
        <p:spPr>
          <a:xfrm>
            <a:off x="8127797" y="1783080"/>
            <a:ext cx="3515258" cy="2651760"/>
          </a:xfrm>
          <a:prstGeom prst="roundRect">
            <a:avLst>
              <a:gd name="adj" fmla="val 3448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sp>
        <p:nvSpPr>
          <p:cNvPr id="15" name="dot 3"/>
          <p:cNvSpPr/>
          <p:nvPr/>
        </p:nvSpPr>
        <p:spPr>
          <a:xfrm>
            <a:off x="8402117" y="2057400"/>
            <a:ext cx="548640" cy="548640"/>
          </a:xfrm>
          <a:prstGeom prst="ellipse">
            <a:avLst/>
          </a:prstGeom>
          <a:solidFill>
            <a:srgbClr val="5B9FCF"/>
          </a:solidFill>
          <a:ln w="12700">
            <a:solidFill>
              <a:srgbClr val="5B9F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02117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402117" y="283464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31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추후 DLC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402117" y="333756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스테이지 / 보스 / 기체 갈래 추가, 원작 다른 캐릭터 기체 스킨 검토</a:t>
            </a:r>
            <a:endParaRPr lang="en-US" sz="1400" dirty="0"/>
          </a:p>
        </p:txBody>
      </p:sp>
      <p:pic>
        <p:nvPicPr>
          <p:cNvPr id="19" name="Image 0" descr="C:/Project/RatPlain/art/sprites/title_art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2311" y="4709160"/>
            <a:ext cx="2347074" cy="1463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개발 현황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7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 데모 구현 범위와 앞으로 할 것</a:t>
            </a:r>
            <a:endParaRPr lang="en-US" sz="1400" dirty="0"/>
          </a:p>
        </p:txBody>
      </p:sp>
      <p:sp>
        <p:nvSpPr>
          <p:cNvPr id="4" name="스테이지"/>
          <p:cNvSpPr/>
          <p:nvPr/>
        </p:nvSpPr>
        <p:spPr>
          <a:xfrm>
            <a:off x="548640" y="1783080"/>
            <a:ext cx="1620469" cy="1463040"/>
          </a:xfrm>
          <a:prstGeom prst="roundRect">
            <a:avLst>
              <a:gd name="adj" fmla="val 6250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920240"/>
            <a:ext cx="162046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F31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07208"/>
            <a:ext cx="162046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7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스테이지</a:t>
            </a:r>
            <a:endParaRPr lang="en-US" sz="1400" dirty="0"/>
          </a:p>
        </p:txBody>
      </p:sp>
      <p:sp>
        <p:nvSpPr>
          <p:cNvPr id="7" name="보스"/>
          <p:cNvSpPr/>
          <p:nvPr/>
        </p:nvSpPr>
        <p:spPr>
          <a:xfrm>
            <a:off x="2443429" y="1783080"/>
            <a:ext cx="1620469" cy="1463040"/>
          </a:xfrm>
          <a:prstGeom prst="roundRect">
            <a:avLst>
              <a:gd name="adj" fmla="val 6250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43429" y="1920240"/>
            <a:ext cx="162046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F31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2443429" y="2807208"/>
            <a:ext cx="162046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7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보스</a:t>
            </a:r>
            <a:endParaRPr lang="en-US" sz="1400" dirty="0"/>
          </a:p>
        </p:txBody>
      </p:sp>
      <p:sp>
        <p:nvSpPr>
          <p:cNvPr id="10" name="일반 적"/>
          <p:cNvSpPr/>
          <p:nvPr/>
        </p:nvSpPr>
        <p:spPr>
          <a:xfrm>
            <a:off x="4338218" y="1783080"/>
            <a:ext cx="1620469" cy="1463040"/>
          </a:xfrm>
          <a:prstGeom prst="roundRect">
            <a:avLst>
              <a:gd name="adj" fmla="val 6250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38218" y="1920240"/>
            <a:ext cx="162046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F31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4338218" y="2807208"/>
            <a:ext cx="162046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7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일반 적</a:t>
            </a:r>
            <a:endParaRPr lang="en-US" sz="1400" dirty="0"/>
          </a:p>
        </p:txBody>
      </p:sp>
      <p:sp>
        <p:nvSpPr>
          <p:cNvPr id="13" name="기체"/>
          <p:cNvSpPr/>
          <p:nvPr/>
        </p:nvSpPr>
        <p:spPr>
          <a:xfrm>
            <a:off x="6233008" y="1783080"/>
            <a:ext cx="1620469" cy="1463040"/>
          </a:xfrm>
          <a:prstGeom prst="roundRect">
            <a:avLst>
              <a:gd name="adj" fmla="val 6250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33008" y="1920240"/>
            <a:ext cx="162046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F31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6233008" y="2807208"/>
            <a:ext cx="162046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7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기체</a:t>
            </a:r>
            <a:endParaRPr lang="en-US" sz="1400" dirty="0"/>
          </a:p>
        </p:txBody>
      </p:sp>
      <p:sp>
        <p:nvSpPr>
          <p:cNvPr id="16" name="장비"/>
          <p:cNvSpPr/>
          <p:nvPr/>
        </p:nvSpPr>
        <p:spPr>
          <a:xfrm>
            <a:off x="8127797" y="1783080"/>
            <a:ext cx="1620469" cy="1463040"/>
          </a:xfrm>
          <a:prstGeom prst="roundRect">
            <a:avLst>
              <a:gd name="adj" fmla="val 6250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27797" y="1920240"/>
            <a:ext cx="162046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053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224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8127797" y="2807208"/>
            <a:ext cx="162046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7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장비</a:t>
            </a:r>
            <a:endParaRPr lang="en-US" sz="1400" dirty="0"/>
          </a:p>
        </p:txBody>
      </p:sp>
      <p:sp>
        <p:nvSpPr>
          <p:cNvPr id="19" name="효과음"/>
          <p:cNvSpPr/>
          <p:nvPr/>
        </p:nvSpPr>
        <p:spPr>
          <a:xfrm>
            <a:off x="10022586" y="1783080"/>
            <a:ext cx="1620469" cy="1463040"/>
          </a:xfrm>
          <a:prstGeom prst="roundRect">
            <a:avLst>
              <a:gd name="adj" fmla="val 6250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22586" y="1920240"/>
            <a:ext cx="162046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F31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</a:t>
            </a:r>
            <a:endParaRPr lang="en-US" sz="4400" dirty="0"/>
          </a:p>
        </p:txBody>
      </p:sp>
      <p:sp>
        <p:nvSpPr>
          <p:cNvPr id="21" name="Text 19"/>
          <p:cNvSpPr txBox="1"/>
          <p:nvPr/>
        </p:nvSpPr>
        <p:spPr>
          <a:xfrm>
            <a:off x="10022586" y="2807208"/>
            <a:ext cx="162046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7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효과음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35584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7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 외 맵 특성 5종, 연구 의뢰 / 합성 / 티어 업, BGM 3곡, 저장 기능 구현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840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6B77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앞으로 할 것</a:t>
            </a:r>
            <a:endParaRPr lang="en-US" sz="1400" dirty="0"/>
          </a:p>
        </p:txBody>
      </p:sp>
      <p:sp>
        <p:nvSpPr>
          <p:cNvPr id="24" name="1. 현장 개조 추가"/>
          <p:cNvSpPr/>
          <p:nvPr/>
        </p:nvSpPr>
        <p:spPr>
          <a:xfrm>
            <a:off x="548640" y="4297680"/>
            <a:ext cx="2567864" cy="1874520"/>
          </a:xfrm>
          <a:prstGeom prst="roundRect">
            <a:avLst>
              <a:gd name="adj" fmla="val 4878"/>
            </a:avLst>
          </a:prstGeom>
          <a:solidFill>
            <a:srgbClr val="FDF1D6"/>
          </a:solidFill>
          <a:ln w="12700">
            <a:solidFill>
              <a:srgbClr val="FDF1D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457200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31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현장 개조 추가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507492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로그라이트 요소 구현</a:t>
            </a:r>
            <a:endParaRPr lang="en-US" sz="1400" dirty="0"/>
          </a:p>
        </p:txBody>
      </p:sp>
      <p:sp>
        <p:nvSpPr>
          <p:cNvPr id="27" name="2. 난이도 / 경제 조정"/>
          <p:cNvSpPr/>
          <p:nvPr/>
        </p:nvSpPr>
        <p:spPr>
          <a:xfrm>
            <a:off x="3390824" y="4297680"/>
            <a:ext cx="2567864" cy="1874520"/>
          </a:xfrm>
          <a:prstGeom prst="roundRect">
            <a:avLst>
              <a:gd name="adj" fmla="val 4878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665144" y="457200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31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난이도 / 경제 조정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3665144" y="507492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봇 테스트만 진행된 상태. 직접 플레이하며 조정</a:t>
            </a:r>
            <a:endParaRPr lang="en-US" sz="1400" dirty="0"/>
          </a:p>
        </p:txBody>
      </p:sp>
      <p:sp>
        <p:nvSpPr>
          <p:cNvPr id="30" name="3. Unity 이식"/>
          <p:cNvSpPr/>
          <p:nvPr/>
        </p:nvSpPr>
        <p:spPr>
          <a:xfrm>
            <a:off x="6233008" y="4297680"/>
            <a:ext cx="2567864" cy="1874520"/>
          </a:xfrm>
          <a:prstGeom prst="roundRect">
            <a:avLst>
              <a:gd name="adj" fmla="val 4878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07328" y="457200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31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Unity 이식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507328" y="507492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수치, 스테이지 표는 데이터 에셋으로 이전</a:t>
            </a:r>
            <a:endParaRPr lang="en-US" sz="1400" dirty="0"/>
          </a:p>
        </p:txBody>
      </p:sp>
      <p:sp>
        <p:nvSpPr>
          <p:cNvPr id="33" name="4. 출시 준비"/>
          <p:cNvSpPr/>
          <p:nvPr/>
        </p:nvSpPr>
        <p:spPr>
          <a:xfrm>
            <a:off x="9075191" y="4297680"/>
            <a:ext cx="2567864" cy="1874520"/>
          </a:xfrm>
          <a:prstGeom prst="roundRect">
            <a:avLst>
              <a:gd name="adj" fmla="val 4878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349511" y="457200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31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출시 준비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9349511" y="507492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스토리 컷신, 로고, 스팀 페이지, 데모</a:t>
            </a:r>
            <a:endParaRPr lang="en-US" sz="14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리스크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7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리스크와 대응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053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364224" y="1783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B9FC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대응</a:t>
            </a:r>
            <a:endParaRPr lang="en-US" sz="1400" dirty="0"/>
          </a:p>
        </p:txBody>
      </p:sp>
      <p:sp>
        <p:nvSpPr>
          <p:cNvPr id="6" name="리스크 1"/>
          <p:cNvSpPr/>
          <p:nvPr/>
        </p:nvSpPr>
        <p:spPr>
          <a:xfrm>
            <a:off x="548640" y="2240280"/>
            <a:ext cx="4937760" cy="777240"/>
          </a:xfrm>
          <a:prstGeom prst="roundRect">
            <a:avLst>
              <a:gd name="adj" fmla="val 11765"/>
            </a:avLst>
          </a:prstGeom>
          <a:solidFill>
            <a:srgbClr val="FBE7E3"/>
          </a:solidFill>
          <a:ln w="12700">
            <a:solidFill>
              <a:srgbClr val="FBE7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24028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탄막 난이도와 캐쥬얼 감성 충돌</a:t>
            </a:r>
            <a:endParaRPr lang="en-US" sz="1400" dirty="0"/>
          </a:p>
        </p:txBody>
      </p:sp>
      <p:sp>
        <p:nvSpPr>
          <p:cNvPr id="8" name="arrow"/>
          <p:cNvSpPr/>
          <p:nvPr/>
        </p:nvSpPr>
        <p:spPr>
          <a:xfrm>
            <a:off x="5760720" y="2491740"/>
            <a:ext cx="329184" cy="274320"/>
          </a:xfrm>
          <a:prstGeom prst="rightArrow">
            <a:avLst/>
          </a:prstGeom>
          <a:solidFill>
            <a:srgbClr val="6B7785"/>
          </a:solidFill>
          <a:ln w="12700">
            <a:solidFill>
              <a:srgbClr val="6B7785"/>
            </a:solidFill>
            <a:prstDash val="solid"/>
          </a:ln>
        </p:spPr>
      </p:sp>
      <p:sp>
        <p:nvSpPr>
          <p:cNvPr id="9" name="대응 1"/>
          <p:cNvSpPr/>
          <p:nvPr/>
        </p:nvSpPr>
        <p:spPr>
          <a:xfrm>
            <a:off x="6364224" y="2240280"/>
            <a:ext cx="5278831" cy="777240"/>
          </a:xfrm>
          <a:prstGeom prst="roundRect">
            <a:avLst>
              <a:gd name="adj" fmla="val 11765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38544" y="2240280"/>
            <a:ext cx="473019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강한 공격 전부 예고, 비사격 회복, 추락 시 절반 보상</a:t>
            </a:r>
            <a:endParaRPr lang="en-US" sz="1400" dirty="0"/>
          </a:p>
        </p:txBody>
      </p:sp>
      <p:sp>
        <p:nvSpPr>
          <p:cNvPr id="11" name="리스크 2"/>
          <p:cNvSpPr/>
          <p:nvPr/>
        </p:nvSpPr>
        <p:spPr>
          <a:xfrm>
            <a:off x="548640" y="3291840"/>
            <a:ext cx="4937760" cy="777240"/>
          </a:xfrm>
          <a:prstGeom prst="roundRect">
            <a:avLst>
              <a:gd name="adj" fmla="val 11765"/>
            </a:avLst>
          </a:prstGeom>
          <a:solidFill>
            <a:srgbClr val="FBE7E3"/>
          </a:solidFill>
          <a:ln w="12700">
            <a:solidFill>
              <a:srgbClr val="FBE7E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29184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장비 224종 밸런스</a:t>
            </a:r>
            <a:endParaRPr lang="en-US" sz="1400" dirty="0"/>
          </a:p>
        </p:txBody>
      </p:sp>
      <p:sp>
        <p:nvSpPr>
          <p:cNvPr id="13" name="arrow"/>
          <p:cNvSpPr/>
          <p:nvPr/>
        </p:nvSpPr>
        <p:spPr>
          <a:xfrm>
            <a:off x="5760720" y="3543300"/>
            <a:ext cx="329184" cy="274320"/>
          </a:xfrm>
          <a:prstGeom prst="rightArrow">
            <a:avLst/>
          </a:prstGeom>
          <a:solidFill>
            <a:srgbClr val="6B7785"/>
          </a:solidFill>
          <a:ln w="12700">
            <a:solidFill>
              <a:srgbClr val="6B7785"/>
            </a:solidFill>
            <a:prstDash val="solid"/>
          </a:ln>
        </p:spPr>
      </p:sp>
      <p:sp>
        <p:nvSpPr>
          <p:cNvPr id="14" name="대응 2"/>
          <p:cNvSpPr/>
          <p:nvPr/>
        </p:nvSpPr>
        <p:spPr>
          <a:xfrm>
            <a:off x="6364224" y="3291840"/>
            <a:ext cx="5278831" cy="777240"/>
          </a:xfrm>
          <a:prstGeom prst="roundRect">
            <a:avLst>
              <a:gd name="adj" fmla="val 11765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38544" y="3291840"/>
            <a:ext cx="473019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일반 / 고급은 틀 × 티어로 자동 생성, 고유 장비만 수동 조정</a:t>
            </a:r>
            <a:endParaRPr lang="en-US" sz="1400" dirty="0"/>
          </a:p>
        </p:txBody>
      </p:sp>
      <p:sp>
        <p:nvSpPr>
          <p:cNvPr id="16" name="리스크 3"/>
          <p:cNvSpPr/>
          <p:nvPr/>
        </p:nvSpPr>
        <p:spPr>
          <a:xfrm>
            <a:off x="548640" y="4343400"/>
            <a:ext cx="4937760" cy="777240"/>
          </a:xfrm>
          <a:prstGeom prst="roundRect">
            <a:avLst>
              <a:gd name="adj" fmla="val 11765"/>
            </a:avLst>
          </a:prstGeom>
          <a:solidFill>
            <a:srgbClr val="FBE7E3"/>
          </a:solidFill>
          <a:ln w="12700">
            <a:solidFill>
              <a:srgbClr val="FBE7E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34340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뽑기 피로</a:t>
            </a:r>
            <a:endParaRPr lang="en-US" sz="1400" dirty="0"/>
          </a:p>
        </p:txBody>
      </p:sp>
      <p:sp>
        <p:nvSpPr>
          <p:cNvPr id="18" name="arrow"/>
          <p:cNvSpPr/>
          <p:nvPr/>
        </p:nvSpPr>
        <p:spPr>
          <a:xfrm>
            <a:off x="5760720" y="4594860"/>
            <a:ext cx="329184" cy="274320"/>
          </a:xfrm>
          <a:prstGeom prst="rightArrow">
            <a:avLst/>
          </a:prstGeom>
          <a:solidFill>
            <a:srgbClr val="6B7785"/>
          </a:solidFill>
          <a:ln w="12700">
            <a:solidFill>
              <a:srgbClr val="6B7785"/>
            </a:solidFill>
            <a:prstDash val="solid"/>
          </a:ln>
        </p:spPr>
      </p:sp>
      <p:sp>
        <p:nvSpPr>
          <p:cNvPr id="19" name="대응 3"/>
          <p:cNvSpPr/>
          <p:nvPr/>
        </p:nvSpPr>
        <p:spPr>
          <a:xfrm>
            <a:off x="6364224" y="4343400"/>
            <a:ext cx="5278831" cy="777240"/>
          </a:xfrm>
          <a:prstGeom prst="roundRect">
            <a:avLst>
              <a:gd name="adj" fmla="val 11765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38544" y="4343400"/>
            <a:ext cx="473019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투입량 선택, 확률 공개, 합성 / 티어 업으로 꽝 재활용</a:t>
            </a:r>
            <a:endParaRPr lang="en-US" sz="1400" dirty="0"/>
          </a:p>
        </p:txBody>
      </p:sp>
      <p:sp>
        <p:nvSpPr>
          <p:cNvPr id="21" name="리스크 4"/>
          <p:cNvSpPr/>
          <p:nvPr/>
        </p:nvSpPr>
        <p:spPr>
          <a:xfrm>
            <a:off x="548640" y="5394960"/>
            <a:ext cx="4937760" cy="777240"/>
          </a:xfrm>
          <a:prstGeom prst="roundRect">
            <a:avLst>
              <a:gd name="adj" fmla="val 11765"/>
            </a:avLst>
          </a:prstGeom>
          <a:solidFill>
            <a:srgbClr val="FBE7E3"/>
          </a:solidFill>
          <a:ln w="12700">
            <a:solidFill>
              <a:srgbClr val="FBE7E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539496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 안 성장과 판 밖 성장 중복</a:t>
            </a:r>
            <a:endParaRPr lang="en-US" sz="1400" dirty="0"/>
          </a:p>
        </p:txBody>
      </p:sp>
      <p:sp>
        <p:nvSpPr>
          <p:cNvPr id="23" name="arrow"/>
          <p:cNvSpPr/>
          <p:nvPr/>
        </p:nvSpPr>
        <p:spPr>
          <a:xfrm>
            <a:off x="5760720" y="5646420"/>
            <a:ext cx="329184" cy="274320"/>
          </a:xfrm>
          <a:prstGeom prst="rightArrow">
            <a:avLst/>
          </a:prstGeom>
          <a:solidFill>
            <a:srgbClr val="6B7785"/>
          </a:solidFill>
          <a:ln w="12700">
            <a:solidFill>
              <a:srgbClr val="6B7785"/>
            </a:solidFill>
            <a:prstDash val="solid"/>
          </a:ln>
        </p:spPr>
      </p:sp>
      <p:sp>
        <p:nvSpPr>
          <p:cNvPr id="24" name="대응 4"/>
          <p:cNvSpPr/>
          <p:nvPr/>
        </p:nvSpPr>
        <p:spPr>
          <a:xfrm>
            <a:off x="6364224" y="5394960"/>
            <a:ext cx="5278831" cy="777240"/>
          </a:xfrm>
          <a:prstGeom prst="roundRect">
            <a:avLst>
              <a:gd name="adj" fmla="val 11765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38544" y="5394960"/>
            <a:ext cx="473019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3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 안 = 폭넓은 변화(키트), 판 밖 = 기체 개성(갈래, 전설 장비)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Project/RatPlain/art/sprites/title_bg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d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147">
              <a:alpha val="65000"/>
            </a:srgbClr>
          </a:solidFill>
          <a:ln w="12700">
            <a:solidFill>
              <a:srgbClr val="1F3147">
                <a:alpha val="0"/>
              </a:srgbClr>
            </a:solidFill>
            <a:prstDash val="solid"/>
          </a:ln>
        </p:spPr>
      </p:sp>
      <p:pic>
        <p:nvPicPr>
          <p:cNvPr id="4" name="Image 1" descr="C:/Project/RatPlain/art/sprites/title_art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1605039"/>
            <a:ext cx="5852160" cy="364792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21031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단계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06324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개조 프로토타입 웹 데모 적용</a:t>
            </a:r>
            <a:endParaRPr lang="en-US" sz="18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플레이로 난이도 조정</a:t>
            </a:r>
            <a:endParaRPr lang="en-US" sz="18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 이식 착수</a:t>
            </a:r>
            <a:endParaRPr lang="en-US" sz="18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tPlain">
  <a:themeElements>
    <a:clrScheme name="RatPlain">
      <a:dk1>
        <a:srgbClr val="22303F"/>
      </a:dk1>
      <a:lt1>
        <a:srgbClr val="FFFFFF"/>
      </a:lt1>
      <a:dk2>
        <a:srgbClr val="1F3147"/>
      </a:dk2>
      <a:lt2>
        <a:srgbClr val="EAF3FA"/>
      </a:lt2>
      <a:accent1>
        <a:srgbClr val="F5B82E"/>
      </a:accent1>
      <a:accent2>
        <a:srgbClr val="E0533A"/>
      </a:accent2>
      <a:accent3>
        <a:srgbClr val="5B9FCF"/>
      </a:accent3>
      <a:accent4>
        <a:srgbClr val="7FD88A"/>
      </a:accent4>
      <a:accent5>
        <a:srgbClr val="6FB8FF"/>
      </a:accent5>
      <a:accent6>
        <a:srgbClr val="FFB84D"/>
      </a:accent6>
      <a:hlink>
        <a:srgbClr val="2B6CB0"/>
      </a:hlink>
      <a:folHlink>
        <a:srgbClr val="6B46C1"/>
      </a:folHlink>
    </a:clrScheme>
    <a:fontScheme name="RatPlain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1708</Words>
  <Application>Microsoft Office PowerPoint</Application>
  <PresentationFormat>와이드스크린</PresentationFormat>
  <Paragraphs>366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Noto Sans KR</vt:lpstr>
      <vt:lpstr>Arial</vt:lpstr>
      <vt:lpstr>RatPlain</vt:lpstr>
      <vt:lpstr>PowerPoint 프레젠테이션</vt:lpstr>
      <vt:lpstr>기획의도</vt:lpstr>
      <vt:lpstr>원페이지 기획서</vt:lpstr>
      <vt:lpstr>핵심 재미</vt:lpstr>
      <vt:lpstr>게임 루프</vt:lpstr>
      <vt:lpstr>비행 / 조작, 체력 / 부스트</vt:lpstr>
      <vt:lpstr>몬스터</vt:lpstr>
      <vt:lpstr>스테이지 / 보스</vt:lpstr>
      <vt:lpstr>맵 특성 → 기체 갈래</vt:lpstr>
      <vt:lpstr>현장 개조 (로그라이트, 신규)</vt:lpstr>
      <vt:lpstr>현장 개조 규칙</vt:lpstr>
      <vt:lpstr>기체 테크</vt:lpstr>
      <vt:lpstr>장비</vt:lpstr>
      <vt:lpstr>연구 의뢰 / 합성</vt:lpstr>
      <vt:lpstr>비쥬얼 가이드</vt:lpstr>
      <vt:lpstr>플랫폼 / BM</vt:lpstr>
      <vt:lpstr>개발 현황</vt:lpstr>
      <vt:lpstr>리스크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쥐 비행기 게임 컨셉 기획서</dc:title>
  <dc:subject>PptxGenJS Presentation</dc:subject>
  <dc:creator>PptxGenJS</dc:creator>
  <cp:lastModifiedBy>도원 박</cp:lastModifiedBy>
  <cp:revision>2</cp:revision>
  <dcterms:created xsi:type="dcterms:W3CDTF">2026-10-28T03:40:10Z</dcterms:created>
  <dcterms:modified xsi:type="dcterms:W3CDTF">2026-10-28T03:40:18Z</dcterms:modified>
</cp:coreProperties>
</file>